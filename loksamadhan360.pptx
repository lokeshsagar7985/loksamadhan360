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72" r:id="rId5"/>
    <p:sldId id="259" r:id="rId6"/>
    <p:sldId id="261" r:id="rId7"/>
    <p:sldId id="262" r:id="rId8"/>
    <p:sldId id="274" r:id="rId9"/>
    <p:sldId id="297" r:id="rId10"/>
    <p:sldId id="273" r:id="rId11"/>
    <p:sldId id="283" r:id="rId12"/>
    <p:sldId id="282" r:id="rId13"/>
    <p:sldId id="290" r:id="rId14"/>
    <p:sldId id="287" r:id="rId15"/>
    <p:sldId id="288" r:id="rId16"/>
    <p:sldId id="271" r:id="rId17"/>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46" y="12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827628FA-B7B1-4275-9387-059CB0E3EE74}" type="datetimeFigureOut">
              <a:rPr lang="en-IN" smtClean="0"/>
              <a:t>27-10-2026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88D14DBC-7D54-465B-8896-2A4F4016C1C6}" type="slidenum">
              <a:rPr lang="en-IN" smtClean="0"/>
              <a:t>‹#›</a:t>
            </a:fld>
            <a:endParaRPr lang="en-IN"/>
          </a:p>
        </p:txBody>
      </p:sp>
    </p:spTree>
    <p:extLst>
      <p:ext uri="{BB962C8B-B14F-4D97-AF65-F5344CB8AC3E}">
        <p14:creationId xmlns:p14="http://schemas.microsoft.com/office/powerpoint/2010/main" val="4136260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D14DBC-7D54-465B-8896-2A4F4016C1C6}" type="slidenum">
              <a:rPr lang="en-IN" smtClean="0"/>
              <a:t>1</a:t>
            </a:fld>
            <a:endParaRPr lang="en-IN"/>
          </a:p>
        </p:txBody>
      </p:sp>
    </p:spTree>
    <p:extLst>
      <p:ext uri="{BB962C8B-B14F-4D97-AF65-F5344CB8AC3E}">
        <p14:creationId xmlns:p14="http://schemas.microsoft.com/office/powerpoint/2010/main" val="3316337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D14DBC-7D54-465B-8896-2A4F4016C1C6}" type="slidenum">
              <a:rPr lang="en-IN" smtClean="0"/>
              <a:t>16</a:t>
            </a:fld>
            <a:endParaRPr lang="en-IN"/>
          </a:p>
        </p:txBody>
      </p:sp>
    </p:spTree>
    <p:extLst>
      <p:ext uri="{BB962C8B-B14F-4D97-AF65-F5344CB8AC3E}">
        <p14:creationId xmlns:p14="http://schemas.microsoft.com/office/powerpoint/2010/main" val="2734044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000" b="0" i="0">
                <a:solidFill>
                  <a:srgbClr val="005093"/>
                </a:solidFill>
                <a:latin typeface="Arial MT"/>
                <a:cs typeface="Arial MT"/>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800" b="0" i="0">
                <a:solidFill>
                  <a:srgbClr val="525252"/>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111125">
              <a:lnSpc>
                <a:spcPts val="1425"/>
              </a:lnSpc>
            </a:pPr>
            <a:fld id="{81D60167-4931-47E6-BA6A-407CBD079E47}" type="slidenum">
              <a:rPr spc="-50" dirty="0"/>
              <a:t>‹#›</a:t>
            </a:fld>
            <a:endParaRPr spc="-5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rgbClr val="005093"/>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800" b="0" i="0">
                <a:solidFill>
                  <a:srgbClr val="525252"/>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111125">
              <a:lnSpc>
                <a:spcPts val="1425"/>
              </a:lnSpc>
            </a:pPr>
            <a:fld id="{81D60167-4931-47E6-BA6A-407CBD079E47}" type="slidenum">
              <a:rPr spc="-50" dirty="0"/>
              <a:t>‹#›</a:t>
            </a:fld>
            <a:endParaRPr spc="-5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rgbClr val="005093"/>
                </a:solidFill>
                <a:latin typeface="Arial MT"/>
                <a:cs typeface="Arial MT"/>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7" name="Holder 7"/>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111125">
              <a:lnSpc>
                <a:spcPts val="1425"/>
              </a:lnSpc>
            </a:pPr>
            <a:fld id="{81D60167-4931-47E6-BA6A-407CBD079E47}" type="slidenum">
              <a:rPr spc="-50" dirty="0"/>
              <a:t>‹#›</a:t>
            </a:fld>
            <a:endParaRPr spc="-5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rgbClr val="005093"/>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5" name="Holder 5"/>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111125">
              <a:lnSpc>
                <a:spcPts val="1425"/>
              </a:lnSpc>
            </a:pPr>
            <a:fld id="{81D60167-4931-47E6-BA6A-407CBD079E47}" type="slidenum">
              <a:rPr spc="-50" dirty="0"/>
              <a:t>‹#›</a:t>
            </a:fld>
            <a:endParaRPr spc="-5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5093"/>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819150" y="352425"/>
            <a:ext cx="3533775" cy="819150"/>
          </a:xfrm>
          <a:prstGeom prst="rect">
            <a:avLst/>
          </a:prstGeom>
        </p:spPr>
      </p:pic>
      <p:pic>
        <p:nvPicPr>
          <p:cNvPr id="18" name="bg object 18"/>
          <p:cNvPicPr/>
          <p:nvPr/>
        </p:nvPicPr>
        <p:blipFill>
          <a:blip r:embed="rId3" cstate="print"/>
          <a:stretch>
            <a:fillRect/>
          </a:stretch>
        </p:blipFill>
        <p:spPr>
          <a:xfrm>
            <a:off x="4572000" y="-1"/>
            <a:ext cx="4572000" cy="51435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4" name="Holder 4"/>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111125">
              <a:lnSpc>
                <a:spcPts val="1425"/>
              </a:lnSpc>
            </a:pPr>
            <a:fld id="{81D60167-4931-47E6-BA6A-407CBD079E47}" type="slidenum">
              <a:rPr spc="-50" dirty="0"/>
              <a:t>‹#›</a:t>
            </a:fld>
            <a:endParaRPr spc="-5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4819650"/>
            <a:ext cx="9144000" cy="323850"/>
          </a:xfrm>
          <a:prstGeom prst="rect">
            <a:avLst/>
          </a:prstGeom>
        </p:spPr>
      </p:pic>
      <p:pic>
        <p:nvPicPr>
          <p:cNvPr id="17" name="bg object 17"/>
          <p:cNvPicPr/>
          <p:nvPr/>
        </p:nvPicPr>
        <p:blipFill>
          <a:blip r:embed="rId8" cstate="print"/>
          <a:stretch>
            <a:fillRect/>
          </a:stretch>
        </p:blipFill>
        <p:spPr>
          <a:xfrm>
            <a:off x="8362950" y="114300"/>
            <a:ext cx="636526" cy="714736"/>
          </a:xfrm>
          <a:prstGeom prst="rect">
            <a:avLst/>
          </a:prstGeom>
        </p:spPr>
      </p:pic>
      <p:sp>
        <p:nvSpPr>
          <p:cNvPr id="18" name="bg object 18"/>
          <p:cNvSpPr/>
          <p:nvPr/>
        </p:nvSpPr>
        <p:spPr>
          <a:xfrm>
            <a:off x="4763" y="1076388"/>
            <a:ext cx="9139555" cy="9525"/>
          </a:xfrm>
          <a:custGeom>
            <a:avLst/>
            <a:gdLst/>
            <a:ahLst/>
            <a:cxnLst/>
            <a:rect l="l" t="t" r="r" b="b"/>
            <a:pathLst>
              <a:path w="9139555" h="9525">
                <a:moveTo>
                  <a:pt x="9139236" y="0"/>
                </a:moveTo>
                <a:lnTo>
                  <a:pt x="0" y="0"/>
                </a:lnTo>
                <a:lnTo>
                  <a:pt x="0" y="9525"/>
                </a:lnTo>
                <a:lnTo>
                  <a:pt x="9139236" y="9525"/>
                </a:lnTo>
                <a:lnTo>
                  <a:pt x="9139236" y="0"/>
                </a:lnTo>
                <a:close/>
              </a:path>
            </a:pathLst>
          </a:custGeom>
          <a:solidFill>
            <a:srgbClr val="39185B"/>
          </a:solidFill>
        </p:spPr>
        <p:txBody>
          <a:bodyPr wrap="square" lIns="0" tIns="0" rIns="0" bIns="0" rtlCol="0"/>
          <a:lstStyle/>
          <a:p>
            <a:endParaRPr/>
          </a:p>
        </p:txBody>
      </p:sp>
      <p:sp>
        <p:nvSpPr>
          <p:cNvPr id="2" name="Holder 2"/>
          <p:cNvSpPr>
            <a:spLocks noGrp="1"/>
          </p:cNvSpPr>
          <p:nvPr>
            <p:ph type="title"/>
          </p:nvPr>
        </p:nvSpPr>
        <p:spPr>
          <a:xfrm>
            <a:off x="66039" y="188849"/>
            <a:ext cx="7432040" cy="723264"/>
          </a:xfrm>
          <a:prstGeom prst="rect">
            <a:avLst/>
          </a:prstGeom>
        </p:spPr>
        <p:txBody>
          <a:bodyPr wrap="square" lIns="0" tIns="0" rIns="0" bIns="0">
            <a:spAutoFit/>
          </a:bodyPr>
          <a:lstStyle>
            <a:lvl1pPr>
              <a:defRPr sz="3000" b="0" i="0">
                <a:solidFill>
                  <a:srgbClr val="005093"/>
                </a:solidFill>
                <a:latin typeface="Arial MT"/>
                <a:cs typeface="Arial MT"/>
              </a:defRPr>
            </a:lvl1pPr>
          </a:lstStyle>
          <a:p>
            <a:endParaRPr/>
          </a:p>
        </p:txBody>
      </p:sp>
      <p:sp>
        <p:nvSpPr>
          <p:cNvPr id="3" name="Holder 3"/>
          <p:cNvSpPr>
            <a:spLocks noGrp="1"/>
          </p:cNvSpPr>
          <p:nvPr>
            <p:ph type="body" idx="1"/>
          </p:nvPr>
        </p:nvSpPr>
        <p:spPr>
          <a:xfrm>
            <a:off x="86360" y="1131887"/>
            <a:ext cx="7767955" cy="2886710"/>
          </a:xfrm>
          <a:prstGeom prst="rect">
            <a:avLst/>
          </a:prstGeom>
        </p:spPr>
        <p:txBody>
          <a:bodyPr wrap="square" lIns="0" tIns="0" rIns="0" bIns="0">
            <a:spAutoFit/>
          </a:bodyPr>
          <a:lstStyle>
            <a:lvl1pPr>
              <a:defRPr sz="1800" b="0" i="0">
                <a:solidFill>
                  <a:srgbClr val="525252"/>
                </a:solidFill>
                <a:latin typeface="Arial MT"/>
                <a:cs typeface="Arial MT"/>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6" name="Holder 6"/>
          <p:cNvSpPr>
            <a:spLocks noGrp="1"/>
          </p:cNvSpPr>
          <p:nvPr>
            <p:ph type="sldNum" sz="quarter" idx="7"/>
          </p:nvPr>
        </p:nvSpPr>
        <p:spPr>
          <a:xfrm>
            <a:off x="8701658" y="4944576"/>
            <a:ext cx="249554" cy="196214"/>
          </a:xfrm>
          <a:prstGeom prst="rect">
            <a:avLst/>
          </a:prstGeom>
        </p:spPr>
        <p:txBody>
          <a:bodyPr wrap="square" lIns="0" tIns="0" rIns="0" bIns="0">
            <a:spAutoFit/>
          </a:bodyPr>
          <a:lstStyle>
            <a:lvl1pPr>
              <a:defRPr sz="1200" b="0" i="0">
                <a:solidFill>
                  <a:schemeClr val="bg1"/>
                </a:solidFill>
                <a:latin typeface="Arial MT"/>
                <a:cs typeface="Arial MT"/>
              </a:defRPr>
            </a:lvl1pPr>
          </a:lstStyle>
          <a:p>
            <a:pPr marL="111125">
              <a:lnSpc>
                <a:spcPts val="1425"/>
              </a:lnSpc>
            </a:pPr>
            <a:fld id="{81D60167-4931-47E6-BA6A-407CBD079E47}" type="slidenum">
              <a:rPr spc="-50" dirty="0"/>
              <a:t>‹#›</a:t>
            </a:fld>
            <a:endParaRPr spc="-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5093"/>
          </a:solidFill>
        </p:spPr>
        <p:txBody>
          <a:bodyPr wrap="square" lIns="0" tIns="0" rIns="0" bIns="0" rtlCol="0"/>
          <a:lstStyle/>
          <a:p>
            <a:endParaRPr/>
          </a:p>
        </p:txBody>
      </p:sp>
      <p:pic>
        <p:nvPicPr>
          <p:cNvPr id="3" name="object 3"/>
          <p:cNvPicPr/>
          <p:nvPr/>
        </p:nvPicPr>
        <p:blipFill>
          <a:blip r:embed="rId3" cstate="print"/>
          <a:stretch>
            <a:fillRect/>
          </a:stretch>
        </p:blipFill>
        <p:spPr>
          <a:xfrm>
            <a:off x="819150" y="352425"/>
            <a:ext cx="3533775" cy="819150"/>
          </a:xfrm>
          <a:prstGeom prst="rect">
            <a:avLst/>
          </a:prstGeom>
        </p:spPr>
      </p:pic>
      <p:pic>
        <p:nvPicPr>
          <p:cNvPr id="4" name="object 4"/>
          <p:cNvPicPr/>
          <p:nvPr/>
        </p:nvPicPr>
        <p:blipFill>
          <a:blip r:embed="rId4" cstate="print"/>
          <a:stretch>
            <a:fillRect/>
          </a:stretch>
        </p:blipFill>
        <p:spPr>
          <a:xfrm>
            <a:off x="4572000" y="-1"/>
            <a:ext cx="4572000" cy="5143500"/>
          </a:xfrm>
          <a:prstGeom prst="rect">
            <a:avLst/>
          </a:prstGeom>
        </p:spPr>
      </p:pic>
      <p:sp>
        <p:nvSpPr>
          <p:cNvPr id="5" name="object 5"/>
          <p:cNvSpPr txBox="1"/>
          <p:nvPr/>
        </p:nvSpPr>
        <p:spPr>
          <a:xfrm>
            <a:off x="159702" y="2296663"/>
            <a:ext cx="8541956" cy="2509213"/>
          </a:xfrm>
          <a:prstGeom prst="rect">
            <a:avLst/>
          </a:prstGeom>
        </p:spPr>
        <p:txBody>
          <a:bodyPr vert="horz" wrap="square" lIns="0" tIns="16510" rIns="0" bIns="0" rtlCol="0" anchor="t">
            <a:spAutoFit/>
          </a:bodyPr>
          <a:lstStyle/>
          <a:p>
            <a:pPr marL="12700">
              <a:spcBef>
                <a:spcPts val="130"/>
              </a:spcBef>
            </a:pPr>
            <a:endParaRPr lang="en-US" sz="2400" dirty="0">
              <a:solidFill>
                <a:schemeClr val="bg1"/>
              </a:solidFill>
              <a:latin typeface="Times New Roman" panose="02020603050405020304" pitchFamily="18" charset="0"/>
              <a:cs typeface="Times New Roman" panose="02020603050405020304" pitchFamily="18" charset="0"/>
            </a:endParaRPr>
          </a:p>
          <a:p>
            <a:pPr marL="12700">
              <a:spcBef>
                <a:spcPts val="130"/>
              </a:spcBef>
            </a:pPr>
            <a:r>
              <a:rPr lang="en-US" sz="2400" dirty="0">
                <a:solidFill>
                  <a:schemeClr val="bg1"/>
                </a:solidFill>
                <a:latin typeface="Times New Roman" panose="02020603050405020304" pitchFamily="18" charset="0"/>
                <a:cs typeface="Times New Roman" panose="02020603050405020304" pitchFamily="18" charset="0"/>
              </a:rPr>
              <a:t>Topic Name: LOKSAMADHAN 360</a:t>
            </a:r>
          </a:p>
          <a:p>
            <a:pPr marL="12700">
              <a:spcBef>
                <a:spcPts val="130"/>
              </a:spcBef>
            </a:pPr>
            <a:r>
              <a:rPr lang="en-US" sz="2400" dirty="0">
                <a:solidFill>
                  <a:schemeClr val="bg1"/>
                </a:solidFill>
                <a:latin typeface="Times New Roman" panose="02020603050405020304" pitchFamily="18" charset="0"/>
                <a:cs typeface="Times New Roman" panose="02020603050405020304" pitchFamily="18" charset="0"/>
              </a:rPr>
              <a:t>Batch Number: 03</a:t>
            </a:r>
          </a:p>
          <a:p>
            <a:pPr marL="12700">
              <a:spcBef>
                <a:spcPts val="130"/>
              </a:spcBef>
            </a:pPr>
            <a:r>
              <a:rPr lang="en-US" sz="2000" dirty="0">
                <a:solidFill>
                  <a:schemeClr val="bg1"/>
                </a:solidFill>
                <a:latin typeface="Times New Roman" panose="02020603050405020304" pitchFamily="18" charset="0"/>
                <a:cs typeface="Times New Roman" panose="02020603050405020304" pitchFamily="18" charset="0"/>
              </a:rPr>
              <a:t>Presenter’s names and roll no:	 B LOKESH(25955A6610) 						 Ch KOUSHIK(24951A6678)</a:t>
            </a:r>
            <a:endParaRPr sz="2000" dirty="0">
              <a:solidFill>
                <a:schemeClr val="bg1"/>
              </a:solidFill>
              <a:latin typeface="Times New Roman" panose="02020603050405020304" pitchFamily="18" charset="0"/>
              <a:cs typeface="Times New Roman" panose="02020603050405020304" pitchFamily="18" charset="0"/>
            </a:endParaRPr>
          </a:p>
          <a:p>
            <a:pPr marL="12700" marR="1725295">
              <a:lnSpc>
                <a:spcPct val="100899"/>
              </a:lnSpc>
            </a:pPr>
            <a:r>
              <a:rPr sz="1600" dirty="0">
                <a:solidFill>
                  <a:srgbClr val="FFFFFF"/>
                </a:solidFill>
                <a:latin typeface="Arial MT"/>
                <a:cs typeface="Arial MT"/>
              </a:rPr>
              <a:t>Department</a:t>
            </a:r>
            <a:r>
              <a:rPr sz="1600" spc="-30" dirty="0">
                <a:solidFill>
                  <a:srgbClr val="FFFFFF"/>
                </a:solidFill>
                <a:latin typeface="Arial MT"/>
                <a:cs typeface="Arial MT"/>
              </a:rPr>
              <a:t> </a:t>
            </a:r>
            <a:r>
              <a:rPr sz="1600" dirty="0">
                <a:solidFill>
                  <a:srgbClr val="FFFFFF"/>
                </a:solidFill>
                <a:latin typeface="Arial MT"/>
                <a:cs typeface="Arial MT"/>
              </a:rPr>
              <a:t>Name</a:t>
            </a:r>
            <a:r>
              <a:rPr sz="1600" spc="-15" dirty="0">
                <a:solidFill>
                  <a:srgbClr val="FFFFFF"/>
                </a:solidFill>
                <a:latin typeface="Arial MT"/>
                <a:cs typeface="Arial MT"/>
              </a:rPr>
              <a:t> </a:t>
            </a:r>
            <a:r>
              <a:rPr sz="1600" dirty="0">
                <a:solidFill>
                  <a:srgbClr val="FFFFFF"/>
                </a:solidFill>
                <a:latin typeface="Arial MT"/>
                <a:cs typeface="Arial MT"/>
              </a:rPr>
              <a:t>–</a:t>
            </a:r>
            <a:r>
              <a:rPr sz="1600" spc="10" dirty="0">
                <a:solidFill>
                  <a:srgbClr val="FFFFFF"/>
                </a:solidFill>
                <a:latin typeface="Arial MT"/>
                <a:cs typeface="Arial MT"/>
              </a:rPr>
              <a:t> </a:t>
            </a:r>
            <a:r>
              <a:rPr sz="1600" spc="-10" dirty="0">
                <a:solidFill>
                  <a:srgbClr val="FFFFFF"/>
                </a:solidFill>
                <a:latin typeface="Arial MT"/>
                <a:cs typeface="Arial MT"/>
              </a:rPr>
              <a:t>CSE-(AI&amp;ML) </a:t>
            </a:r>
            <a:endParaRPr lang="en-US" sz="1600" dirty="0">
              <a:solidFill>
                <a:srgbClr val="000000"/>
              </a:solidFill>
              <a:latin typeface="Arial MT"/>
              <a:cs typeface="Arial MT"/>
            </a:endParaRPr>
          </a:p>
          <a:p>
            <a:pPr marL="12700" marR="1725295">
              <a:lnSpc>
                <a:spcPct val="100899"/>
              </a:lnSpc>
            </a:pPr>
            <a:r>
              <a:rPr sz="1600" dirty="0">
                <a:solidFill>
                  <a:srgbClr val="FFFFFF"/>
                </a:solidFill>
                <a:latin typeface="Arial MT"/>
                <a:cs typeface="Arial MT"/>
              </a:rPr>
              <a:t>Semester</a:t>
            </a:r>
            <a:r>
              <a:rPr sz="1600" spc="-80" dirty="0">
                <a:solidFill>
                  <a:srgbClr val="FFFFFF"/>
                </a:solidFill>
                <a:latin typeface="Arial MT"/>
                <a:cs typeface="Arial MT"/>
              </a:rPr>
              <a:t> </a:t>
            </a:r>
            <a:r>
              <a:rPr sz="1600" dirty="0">
                <a:solidFill>
                  <a:srgbClr val="FFFFFF"/>
                </a:solidFill>
                <a:latin typeface="Arial MT"/>
                <a:cs typeface="Arial MT"/>
              </a:rPr>
              <a:t>&amp; Section</a:t>
            </a:r>
            <a:r>
              <a:rPr sz="1600" spc="-35" dirty="0">
                <a:solidFill>
                  <a:srgbClr val="FFFFFF"/>
                </a:solidFill>
                <a:latin typeface="Arial MT"/>
                <a:cs typeface="Arial MT"/>
              </a:rPr>
              <a:t> </a:t>
            </a:r>
            <a:r>
              <a:rPr sz="1600" dirty="0">
                <a:solidFill>
                  <a:srgbClr val="FFFFFF"/>
                </a:solidFill>
                <a:latin typeface="Arial MT"/>
                <a:cs typeface="Arial MT"/>
              </a:rPr>
              <a:t>–</a:t>
            </a:r>
            <a:r>
              <a:rPr sz="1600" spc="-20" dirty="0">
                <a:solidFill>
                  <a:srgbClr val="FFFFFF"/>
                </a:solidFill>
                <a:latin typeface="Arial MT"/>
                <a:cs typeface="Arial MT"/>
              </a:rPr>
              <a:t> </a:t>
            </a:r>
            <a:r>
              <a:rPr lang="en-US" sz="1600" dirty="0">
                <a:solidFill>
                  <a:srgbClr val="FFFFFF"/>
                </a:solidFill>
                <a:latin typeface="Arial MT"/>
                <a:cs typeface="Arial MT"/>
              </a:rPr>
              <a:t>V</a:t>
            </a:r>
            <a:r>
              <a:rPr sz="1600" spc="30" dirty="0">
                <a:solidFill>
                  <a:srgbClr val="FFFFFF"/>
                </a:solidFill>
                <a:latin typeface="Arial MT"/>
                <a:cs typeface="Arial MT"/>
              </a:rPr>
              <a:t> </a:t>
            </a:r>
            <a:r>
              <a:rPr sz="1600" dirty="0">
                <a:solidFill>
                  <a:srgbClr val="FFFFFF"/>
                </a:solidFill>
                <a:latin typeface="Arial MT"/>
                <a:cs typeface="Arial MT"/>
              </a:rPr>
              <a:t>Sem </a:t>
            </a:r>
            <a:r>
              <a:rPr lang="en-US" sz="1600" dirty="0">
                <a:solidFill>
                  <a:srgbClr val="FFFFFF"/>
                </a:solidFill>
                <a:latin typeface="Arial MT"/>
                <a:cs typeface="Arial MT"/>
              </a:rPr>
              <a:t>B</a:t>
            </a:r>
            <a:r>
              <a:rPr lang="en-US" sz="1600" spc="-10" dirty="0">
                <a:solidFill>
                  <a:srgbClr val="FFFFFF"/>
                </a:solidFill>
                <a:latin typeface="Arial MT"/>
                <a:cs typeface="Arial MT"/>
              </a:rPr>
              <a:t>-Section</a:t>
            </a:r>
            <a:r>
              <a:rPr sz="1600" spc="-10" dirty="0">
                <a:solidFill>
                  <a:srgbClr val="FFFFFF"/>
                </a:solidFill>
                <a:latin typeface="Arial MT"/>
                <a:cs typeface="Arial MT"/>
              </a:rPr>
              <a:t> </a:t>
            </a:r>
            <a:endParaRPr lang="en-US" sz="1600" dirty="0">
              <a:solidFill>
                <a:srgbClr val="000000"/>
              </a:solidFill>
              <a:latin typeface="Arial MT"/>
              <a:cs typeface="Arial MT"/>
            </a:endParaRPr>
          </a:p>
          <a:p>
            <a:pPr marL="12700" marR="1725295">
              <a:lnSpc>
                <a:spcPct val="100899"/>
              </a:lnSpc>
            </a:pPr>
            <a:r>
              <a:rPr sz="1600" dirty="0">
                <a:solidFill>
                  <a:srgbClr val="FFFFFF"/>
                </a:solidFill>
                <a:latin typeface="Arial MT"/>
                <a:cs typeface="Arial MT"/>
              </a:rPr>
              <a:t>Presentation</a:t>
            </a:r>
            <a:r>
              <a:rPr sz="1600" spc="-25" dirty="0">
                <a:solidFill>
                  <a:srgbClr val="FFFFFF"/>
                </a:solidFill>
                <a:latin typeface="Arial MT"/>
                <a:cs typeface="Arial MT"/>
              </a:rPr>
              <a:t> </a:t>
            </a:r>
            <a:r>
              <a:rPr sz="1600" dirty="0">
                <a:solidFill>
                  <a:srgbClr val="FFFFFF"/>
                </a:solidFill>
                <a:latin typeface="Arial MT"/>
                <a:cs typeface="Arial MT"/>
              </a:rPr>
              <a:t>Date</a:t>
            </a:r>
            <a:r>
              <a:rPr sz="1600" spc="-20" dirty="0">
                <a:solidFill>
                  <a:srgbClr val="FFFFFF"/>
                </a:solidFill>
                <a:latin typeface="Arial MT"/>
                <a:cs typeface="Arial MT"/>
              </a:rPr>
              <a:t> </a:t>
            </a:r>
            <a:r>
              <a:rPr sz="1600" dirty="0">
                <a:solidFill>
                  <a:srgbClr val="FFFFFF"/>
                </a:solidFill>
                <a:latin typeface="Arial MT"/>
                <a:cs typeface="Arial MT"/>
              </a:rPr>
              <a:t>–</a:t>
            </a:r>
            <a:r>
              <a:rPr sz="1600" spc="-20" dirty="0">
                <a:solidFill>
                  <a:srgbClr val="FFFFFF"/>
                </a:solidFill>
                <a:latin typeface="Arial MT"/>
                <a:cs typeface="Arial MT"/>
              </a:rPr>
              <a:t> </a:t>
            </a:r>
            <a:r>
              <a:rPr lang="en-US" sz="1600" spc="-10" dirty="0">
                <a:solidFill>
                  <a:srgbClr val="FFFFFF"/>
                </a:solidFill>
                <a:latin typeface="Arial MT"/>
                <a:cs typeface="Arial MT"/>
              </a:rPr>
              <a:t>28/10/2026</a:t>
            </a:r>
            <a:endParaRPr sz="1600" dirty="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1</a:t>
            </a:fld>
            <a:endParaRPr spc="-50"/>
          </a:p>
        </p:txBody>
      </p:sp>
      <p:sp>
        <p:nvSpPr>
          <p:cNvPr id="6" name="object 6"/>
          <p:cNvSpPr txBox="1">
            <a:spLocks noGrp="1"/>
          </p:cNvSpPr>
          <p:nvPr>
            <p:ph type="title"/>
          </p:nvPr>
        </p:nvSpPr>
        <p:spPr>
          <a:xfrm>
            <a:off x="159702" y="1323511"/>
            <a:ext cx="8791510" cy="1122487"/>
          </a:xfrm>
          <a:prstGeom prst="rect">
            <a:avLst/>
          </a:prstGeom>
        </p:spPr>
        <p:txBody>
          <a:bodyPr vert="horz" wrap="square" lIns="0" tIns="12700" rIns="0" bIns="0" rtlCol="0" anchor="t">
            <a:spAutoFit/>
          </a:bodyPr>
          <a:lstStyle/>
          <a:p>
            <a:pPr marL="12700" marR="5080">
              <a:lnSpc>
                <a:spcPct val="136200"/>
              </a:lnSpc>
              <a:spcBef>
                <a:spcPts val="100"/>
              </a:spcBef>
            </a:pPr>
            <a:r>
              <a:rPr lang="en-US" sz="2800" spc="-10" dirty="0">
                <a:solidFill>
                  <a:srgbClr val="FFFFFF"/>
                </a:solidFill>
                <a:latin typeface="Times New Roman" panose="02020603050405020304" pitchFamily="18" charset="0"/>
                <a:cs typeface="Times New Roman" panose="02020603050405020304" pitchFamily="18" charset="0"/>
              </a:rPr>
              <a:t>Course Name: Engineering Design Project </a:t>
            </a:r>
            <a:br>
              <a:rPr lang="en-US" sz="2800" spc="-10" dirty="0">
                <a:solidFill>
                  <a:srgbClr val="FFFFFF"/>
                </a:solidFill>
                <a:latin typeface="Times New Roman" panose="02020603050405020304" pitchFamily="18" charset="0"/>
                <a:cs typeface="Times New Roman" panose="02020603050405020304" pitchFamily="18" charset="0"/>
              </a:rPr>
            </a:br>
            <a:r>
              <a:rPr lang="en-US" sz="2800" spc="-10" dirty="0">
                <a:solidFill>
                  <a:srgbClr val="FFFFFF"/>
                </a:solidFill>
                <a:latin typeface="Times New Roman" panose="02020603050405020304" pitchFamily="18" charset="0"/>
                <a:cs typeface="Times New Roman" panose="02020603050405020304" pitchFamily="18" charset="0"/>
              </a:rPr>
              <a:t>Course Code: </a:t>
            </a:r>
            <a:r>
              <a:rPr sz="2800" spc="-45" dirty="0">
                <a:solidFill>
                  <a:srgbClr val="FFFFFF"/>
                </a:solidFill>
                <a:latin typeface="Times New Roman" panose="02020603050405020304" pitchFamily="18" charset="0"/>
                <a:cs typeface="Times New Roman" panose="02020603050405020304" pitchFamily="18" charset="0"/>
              </a:rPr>
              <a:t> </a:t>
            </a:r>
            <a:r>
              <a:rPr sz="2800" spc="-10" dirty="0">
                <a:solidFill>
                  <a:srgbClr val="FFFFFF"/>
                </a:solidFill>
                <a:latin typeface="Times New Roman" panose="02020603050405020304" pitchFamily="18" charset="0"/>
                <a:cs typeface="Times New Roman" panose="02020603050405020304" pitchFamily="18" charset="0"/>
              </a:rPr>
              <a:t>(</a:t>
            </a:r>
            <a:r>
              <a:rPr lang="en-US" sz="2800" spc="-10" dirty="0">
                <a:solidFill>
                  <a:srgbClr val="FFFFFF"/>
                </a:solidFill>
                <a:latin typeface="Times New Roman" panose="02020603050405020304" pitchFamily="18" charset="0"/>
                <a:cs typeface="Times New Roman" panose="02020603050405020304" pitchFamily="18" charset="0"/>
              </a:rPr>
              <a:t>ACSD29</a:t>
            </a:r>
            <a:r>
              <a:rPr sz="2800" spc="-10" dirty="0">
                <a:solidFill>
                  <a:srgbClr val="FFFFFF"/>
                </a:solidFill>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48200" y="1143000"/>
            <a:ext cx="0" cy="3467735"/>
          </a:xfrm>
          <a:custGeom>
            <a:avLst/>
            <a:gdLst/>
            <a:ahLst/>
            <a:cxnLst/>
            <a:rect l="l" t="t" r="r" b="b"/>
            <a:pathLst>
              <a:path h="3467735">
                <a:moveTo>
                  <a:pt x="0" y="0"/>
                </a:moveTo>
                <a:lnTo>
                  <a:pt x="0" y="3467493"/>
                </a:lnTo>
              </a:path>
            </a:pathLst>
          </a:custGeom>
          <a:ln w="19050">
            <a:solidFill>
              <a:srgbClr val="005093"/>
            </a:solidFill>
            <a:prstDash val="sysDash"/>
          </a:ln>
        </p:spPr>
        <p:txBody>
          <a:bodyPr wrap="square" lIns="0" tIns="0" rIns="0" bIns="0" rtlCol="0"/>
          <a:lstStyle/>
          <a:p>
            <a:endParaRPr/>
          </a:p>
        </p:txBody>
      </p:sp>
      <p:sp>
        <p:nvSpPr>
          <p:cNvPr id="3" name="object 3"/>
          <p:cNvSpPr txBox="1"/>
          <p:nvPr/>
        </p:nvSpPr>
        <p:spPr>
          <a:xfrm>
            <a:off x="63653" y="1071012"/>
            <a:ext cx="4159885" cy="3749103"/>
          </a:xfrm>
          <a:prstGeom prst="rect">
            <a:avLst/>
          </a:prstGeom>
        </p:spPr>
        <p:txBody>
          <a:bodyPr vert="horz" wrap="square" lIns="0" tIns="88265" rIns="0" bIns="0" rtlCol="0" anchor="t">
            <a:spAutoFit/>
          </a:bodyPr>
          <a:lstStyle/>
          <a:p>
            <a:pPr marL="283845" indent="-271145">
              <a:spcBef>
                <a:spcPts val="695"/>
              </a:spcBef>
              <a:buClr>
                <a:srgbClr val="005093"/>
              </a:buClr>
              <a:buFont typeface="Wingdings"/>
              <a:buChar char=""/>
              <a:tabLst>
                <a:tab pos="283845" algn="l"/>
              </a:tabLst>
            </a:pPr>
            <a:r>
              <a:rPr lang="en-US" sz="1700" dirty="0">
                <a:solidFill>
                  <a:srgbClr val="525252"/>
                </a:solidFill>
                <a:latin typeface="Arial MT"/>
                <a:cs typeface="Arial MT"/>
              </a:rPr>
              <a:t>Abstract</a:t>
            </a:r>
          </a:p>
          <a:p>
            <a:pPr marL="283845" indent="-271145">
              <a:lnSpc>
                <a:spcPct val="100000"/>
              </a:lnSpc>
              <a:spcBef>
                <a:spcPts val="695"/>
              </a:spcBef>
              <a:buClr>
                <a:srgbClr val="005093"/>
              </a:buClr>
              <a:buFont typeface="Wingdings"/>
              <a:buChar char=""/>
              <a:tabLst>
                <a:tab pos="283845" algn="l"/>
              </a:tabLst>
            </a:pPr>
            <a:r>
              <a:rPr sz="1700" dirty="0">
                <a:solidFill>
                  <a:srgbClr val="525252"/>
                </a:solidFill>
                <a:latin typeface="Arial MT"/>
                <a:cs typeface="Arial MT"/>
              </a:rPr>
              <a:t>Problem</a:t>
            </a:r>
            <a:r>
              <a:rPr sz="1700" spc="-35" dirty="0">
                <a:solidFill>
                  <a:srgbClr val="525252"/>
                </a:solidFill>
                <a:latin typeface="Arial MT"/>
                <a:cs typeface="Arial MT"/>
              </a:rPr>
              <a:t> </a:t>
            </a:r>
            <a:r>
              <a:rPr sz="1700" spc="-10" dirty="0">
                <a:solidFill>
                  <a:srgbClr val="525252"/>
                </a:solidFill>
                <a:latin typeface="Arial MT"/>
                <a:cs typeface="Arial MT"/>
              </a:rPr>
              <a:t>Statement</a:t>
            </a:r>
            <a:endParaRPr sz="1700" dirty="0">
              <a:latin typeface="Arial MT"/>
              <a:cs typeface="Arial MT"/>
            </a:endParaRPr>
          </a:p>
          <a:p>
            <a:pPr marL="283845" indent="-271145">
              <a:lnSpc>
                <a:spcPct val="100000"/>
              </a:lnSpc>
              <a:spcBef>
                <a:spcPts val="605"/>
              </a:spcBef>
              <a:buClr>
                <a:srgbClr val="005093"/>
              </a:buClr>
              <a:buFont typeface="Wingdings"/>
              <a:buChar char=""/>
              <a:tabLst>
                <a:tab pos="283845" algn="l"/>
              </a:tabLst>
            </a:pPr>
            <a:r>
              <a:rPr lang="en-US" sz="1700" spc="-10" dirty="0">
                <a:solidFill>
                  <a:srgbClr val="525252"/>
                </a:solidFill>
                <a:latin typeface="Arial MT"/>
                <a:cs typeface="Arial MT"/>
              </a:rPr>
              <a:t>Introduction</a:t>
            </a:r>
            <a:endParaRPr sz="1700" spc="-10" dirty="0">
              <a:solidFill>
                <a:srgbClr val="525252"/>
              </a:solidFill>
              <a:latin typeface="Arial MT"/>
              <a:cs typeface="Arial MT"/>
            </a:endParaRPr>
          </a:p>
          <a:p>
            <a:pPr marL="283845" indent="-271145">
              <a:lnSpc>
                <a:spcPct val="100000"/>
              </a:lnSpc>
              <a:spcBef>
                <a:spcPts val="605"/>
              </a:spcBef>
              <a:buClr>
                <a:srgbClr val="005093"/>
              </a:buClr>
              <a:buFont typeface="Wingdings"/>
              <a:buChar char=""/>
              <a:tabLst>
                <a:tab pos="283845" algn="l"/>
              </a:tabLst>
            </a:pPr>
            <a:r>
              <a:rPr sz="1700" spc="-10" dirty="0">
                <a:solidFill>
                  <a:srgbClr val="525252"/>
                </a:solidFill>
                <a:latin typeface="Arial MT"/>
                <a:cs typeface="Arial MT"/>
              </a:rPr>
              <a:t>Requirements</a:t>
            </a:r>
            <a:endParaRPr sz="1700" dirty="0">
              <a:latin typeface="Arial MT"/>
              <a:cs typeface="Arial MT"/>
            </a:endParaRPr>
          </a:p>
          <a:p>
            <a:pPr marL="283845" indent="-271145">
              <a:lnSpc>
                <a:spcPct val="100000"/>
              </a:lnSpc>
              <a:spcBef>
                <a:spcPts val="605"/>
              </a:spcBef>
              <a:buClr>
                <a:srgbClr val="005093"/>
              </a:buClr>
              <a:buFont typeface="Wingdings"/>
              <a:buChar char=""/>
              <a:tabLst>
                <a:tab pos="283845" algn="l"/>
              </a:tabLst>
            </a:pPr>
            <a:r>
              <a:rPr sz="1700" spc="-10" dirty="0">
                <a:solidFill>
                  <a:srgbClr val="525252"/>
                </a:solidFill>
                <a:latin typeface="Arial MT"/>
                <a:cs typeface="Arial MT"/>
              </a:rPr>
              <a:t>Prerequisites</a:t>
            </a:r>
            <a:endParaRPr sz="1700" dirty="0">
              <a:latin typeface="Arial MT"/>
              <a:cs typeface="Arial MT"/>
            </a:endParaRPr>
          </a:p>
          <a:p>
            <a:pPr marL="283845" indent="-271145">
              <a:spcBef>
                <a:spcPts val="605"/>
              </a:spcBef>
              <a:buClr>
                <a:srgbClr val="005093"/>
              </a:buClr>
              <a:buFont typeface="Wingdings"/>
              <a:buChar char=""/>
              <a:tabLst>
                <a:tab pos="283845" algn="l"/>
              </a:tabLst>
            </a:pPr>
            <a:r>
              <a:rPr lang="en-US" sz="1700" dirty="0">
                <a:solidFill>
                  <a:srgbClr val="525252"/>
                </a:solidFill>
                <a:latin typeface="Arial MT"/>
                <a:cs typeface="Arial MT"/>
              </a:rPr>
              <a:t>Technologies Used</a:t>
            </a:r>
          </a:p>
          <a:p>
            <a:pPr marL="283845" indent="-271145">
              <a:spcBef>
                <a:spcPts val="605"/>
              </a:spcBef>
              <a:buClr>
                <a:srgbClr val="005093"/>
              </a:buClr>
              <a:buFont typeface="Wingdings"/>
              <a:buChar char=""/>
              <a:tabLst>
                <a:tab pos="283845" algn="l"/>
              </a:tabLst>
            </a:pPr>
            <a:r>
              <a:rPr lang="en-US" sz="1700" dirty="0">
                <a:solidFill>
                  <a:srgbClr val="525252"/>
                </a:solidFill>
                <a:latin typeface="Arial MT"/>
                <a:cs typeface="Arial MT"/>
              </a:rPr>
              <a:t>Algorithms Used</a:t>
            </a:r>
          </a:p>
          <a:p>
            <a:pPr marL="283845" indent="-271145">
              <a:spcBef>
                <a:spcPts val="605"/>
              </a:spcBef>
              <a:buClr>
                <a:srgbClr val="005093"/>
              </a:buClr>
              <a:buFont typeface="Wingdings"/>
              <a:buChar char=""/>
              <a:tabLst>
                <a:tab pos="283845" algn="l"/>
              </a:tabLst>
            </a:pPr>
            <a:r>
              <a:rPr lang="en-US" sz="1700" dirty="0">
                <a:solidFill>
                  <a:srgbClr val="525252"/>
                </a:solidFill>
                <a:latin typeface="Arial MT"/>
                <a:cs typeface="Arial MT"/>
              </a:rPr>
              <a:t>Literature Review</a:t>
            </a:r>
          </a:p>
          <a:p>
            <a:pPr marL="283845" indent="-271145">
              <a:lnSpc>
                <a:spcPct val="100000"/>
              </a:lnSpc>
              <a:spcBef>
                <a:spcPts val="605"/>
              </a:spcBef>
              <a:buClr>
                <a:srgbClr val="005093"/>
              </a:buClr>
              <a:buFont typeface="Wingdings"/>
              <a:buChar char=""/>
              <a:tabLst>
                <a:tab pos="283845" algn="l"/>
              </a:tabLst>
            </a:pPr>
            <a:r>
              <a:rPr lang="en-US" sz="1700" dirty="0">
                <a:solidFill>
                  <a:srgbClr val="525252"/>
                </a:solidFill>
                <a:latin typeface="Arial MT"/>
                <a:cs typeface="Arial MT"/>
              </a:rPr>
              <a:t>Methodology</a:t>
            </a:r>
            <a:endParaRPr sz="1700" dirty="0">
              <a:latin typeface="Arial MT"/>
              <a:cs typeface="Arial MT"/>
            </a:endParaRPr>
          </a:p>
          <a:p>
            <a:pPr marL="283845" indent="-271145">
              <a:spcBef>
                <a:spcPts val="605"/>
              </a:spcBef>
              <a:buClr>
                <a:srgbClr val="005093"/>
              </a:buClr>
              <a:buFont typeface="Wingdings"/>
              <a:buChar char=""/>
              <a:tabLst>
                <a:tab pos="283845" algn="l"/>
              </a:tabLst>
            </a:pPr>
            <a:r>
              <a:rPr sz="1700" dirty="0">
                <a:solidFill>
                  <a:srgbClr val="525252"/>
                </a:solidFill>
                <a:latin typeface="Arial MT"/>
                <a:cs typeface="Arial MT"/>
              </a:rPr>
              <a:t>Result</a:t>
            </a:r>
            <a:r>
              <a:rPr sz="1700" spc="-125" dirty="0">
                <a:solidFill>
                  <a:srgbClr val="525252"/>
                </a:solidFill>
                <a:latin typeface="Arial MT"/>
                <a:cs typeface="Arial MT"/>
              </a:rPr>
              <a:t> </a:t>
            </a:r>
            <a:r>
              <a:rPr lang="en-US" sz="1700" spc="-125" dirty="0">
                <a:solidFill>
                  <a:srgbClr val="525252"/>
                </a:solidFill>
                <a:latin typeface="Arial MT"/>
                <a:cs typeface="Arial MT"/>
              </a:rPr>
              <a:t>and Discussions</a:t>
            </a:r>
            <a:endParaRPr sz="1700" spc="-10" dirty="0">
              <a:solidFill>
                <a:srgbClr val="525252"/>
              </a:solidFill>
              <a:latin typeface="Arial MT"/>
              <a:cs typeface="Arial MT"/>
            </a:endParaRPr>
          </a:p>
          <a:p>
            <a:pPr marL="283845" indent="-271145">
              <a:spcBef>
                <a:spcPts val="605"/>
              </a:spcBef>
              <a:buClr>
                <a:srgbClr val="005093"/>
              </a:buClr>
              <a:buFont typeface="Wingdings"/>
              <a:buChar char=""/>
              <a:tabLst>
                <a:tab pos="283845" algn="l"/>
              </a:tabLst>
            </a:pPr>
            <a:r>
              <a:rPr sz="1700" spc="-10" dirty="0">
                <a:solidFill>
                  <a:srgbClr val="525252"/>
                </a:solidFill>
                <a:latin typeface="Arial MT"/>
                <a:cs typeface="Arial MT"/>
              </a:rPr>
              <a:t>Conclusion</a:t>
            </a:r>
            <a:r>
              <a:rPr lang="en-US" sz="1700" spc="-10" dirty="0">
                <a:solidFill>
                  <a:srgbClr val="525252"/>
                </a:solidFill>
                <a:latin typeface="Arial MT"/>
                <a:cs typeface="Arial MT"/>
              </a:rPr>
              <a:t> and Future Scope</a:t>
            </a:r>
            <a:endParaRPr sz="1700" dirty="0">
              <a:latin typeface="Arial MT"/>
              <a:cs typeface="Arial MT"/>
            </a:endParaRPr>
          </a:p>
        </p:txBody>
      </p:sp>
      <p:sp>
        <p:nvSpPr>
          <p:cNvPr id="4" name="object 4"/>
          <p:cNvSpPr txBox="1">
            <a:spLocks noGrp="1"/>
          </p:cNvSpPr>
          <p:nvPr>
            <p:ph type="title"/>
          </p:nvPr>
        </p:nvSpPr>
        <p:spPr>
          <a:prstGeom prst="rect">
            <a:avLst/>
          </a:prstGeom>
        </p:spPr>
        <p:txBody>
          <a:bodyPr vert="horz" wrap="square" lIns="0" tIns="13335" rIns="0" bIns="0" rtlCol="0">
            <a:spAutoFit/>
          </a:bodyPr>
          <a:lstStyle/>
          <a:p>
            <a:pPr marL="46990">
              <a:lnSpc>
                <a:spcPct val="100000"/>
              </a:lnSpc>
              <a:spcBef>
                <a:spcPts val="105"/>
              </a:spcBef>
            </a:pPr>
            <a:r>
              <a:t>Contents</a:t>
            </a:r>
            <a:r>
              <a:rPr spc="-60"/>
              <a:t> </a:t>
            </a:r>
            <a:r>
              <a:t>of</a:t>
            </a:r>
            <a:r>
              <a:rPr spc="15"/>
              <a:t> </a:t>
            </a:r>
            <a:r>
              <a:t>the</a:t>
            </a:r>
            <a:r>
              <a:rPr spc="-55"/>
              <a:t> </a:t>
            </a:r>
            <a:r>
              <a:rPr spc="-10"/>
              <a:t>Presentation</a:t>
            </a:r>
          </a:p>
        </p:txBody>
      </p:sp>
      <p:pic>
        <p:nvPicPr>
          <p:cNvPr id="5" name="object 5"/>
          <p:cNvPicPr/>
          <p:nvPr/>
        </p:nvPicPr>
        <p:blipFill>
          <a:blip r:embed="rId2" cstate="print"/>
          <a:stretch>
            <a:fillRect/>
          </a:stretch>
        </p:blipFill>
        <p:spPr>
          <a:xfrm>
            <a:off x="4800600" y="1143000"/>
            <a:ext cx="3495675" cy="346710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2</a:t>
            </a:fld>
            <a:endParaRPr spc="-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39" y="188849"/>
            <a:ext cx="7432040" cy="534120"/>
          </a:xfrm>
          <a:prstGeom prst="rect">
            <a:avLst/>
          </a:prstGeom>
        </p:spPr>
        <p:txBody>
          <a:bodyPr vert="horz" wrap="square" lIns="0" tIns="71754" rIns="0" bIns="0" rtlCol="0" anchor="t">
            <a:spAutoFit/>
          </a:bodyPr>
          <a:lstStyle/>
          <a:p>
            <a:pPr marL="45085">
              <a:lnSpc>
                <a:spcPct val="100000"/>
              </a:lnSpc>
              <a:spcBef>
                <a:spcPts val="105"/>
              </a:spcBef>
            </a:pPr>
            <a:r>
              <a:rPr lang="en-US"/>
              <a:t>Abstract</a:t>
            </a:r>
            <a:endParaRPr lang="en-US" spc="-3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3</a:t>
            </a:fld>
            <a:endParaRPr spc="-50"/>
          </a:p>
        </p:txBody>
      </p:sp>
      <p:sp>
        <p:nvSpPr>
          <p:cNvPr id="3" name="object 3"/>
          <p:cNvSpPr txBox="1"/>
          <p:nvPr/>
        </p:nvSpPr>
        <p:spPr>
          <a:xfrm>
            <a:off x="66038" y="1109751"/>
            <a:ext cx="8885173" cy="3399007"/>
          </a:xfrm>
          <a:prstGeom prst="rect">
            <a:avLst/>
          </a:prstGeom>
        </p:spPr>
        <p:txBody>
          <a:bodyPr vert="horz" wrap="square" lIns="0" tIns="13335" rIns="0" bIns="0" rtlCol="0" anchor="t">
            <a:spAutoFit/>
          </a:bodyPr>
          <a:lstStyle/>
          <a:p>
            <a:pPr marL="342900" indent="-342900" algn="just">
              <a:lnSpc>
                <a:spcPct val="100000"/>
              </a:lnSpc>
              <a:buClr>
                <a:srgbClr val="005093"/>
              </a:buClr>
              <a:buFont typeface="Wingdings"/>
              <a:buChar char="Ø"/>
              <a:tabLst>
                <a:tab pos="180340" algn="l"/>
                <a:tab pos="292735" algn="l"/>
              </a:tabLst>
            </a:pPr>
            <a:r>
              <a:rPr lang="en-IN" sz="2000" dirty="0"/>
              <a:t>LokSamadhan360 is an AI-powered civic complaint management platform designed to improve public services and government accountability. It enables citizens to report issues related to roads, water supply, electricity, sanitation, and other civic facilities. Users can submit complaints with images and GPS-based locations for accurate identification. The system assigns complaints to relevant departmental employees based on the issue category and location. AI techniques help detect duplicate complaints, assess severity, and prioritize critical issues. Real-time status tracking, resolution verification, and escalation mechanisms promote transparency and accountability. Overall, LokSamadhan360 aims to build smarter, more responsive, and citizen-centric urban governance.</a:t>
            </a:r>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EB847-CBC1-0D1D-51DB-CBABE3598D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97B39E-9790-FBFB-0C49-5BDB95A0648C}"/>
              </a:ext>
            </a:extLst>
          </p:cNvPr>
          <p:cNvSpPr txBox="1">
            <a:spLocks noGrp="1"/>
          </p:cNvSpPr>
          <p:nvPr>
            <p:ph type="title"/>
          </p:nvPr>
        </p:nvSpPr>
        <p:spPr>
          <a:prstGeom prst="rect">
            <a:avLst/>
          </a:prstGeom>
        </p:spPr>
        <p:txBody>
          <a:bodyPr vert="horz" wrap="square" lIns="0" tIns="71754" rIns="0" bIns="0" rtlCol="0">
            <a:spAutoFit/>
          </a:bodyPr>
          <a:lstStyle/>
          <a:p>
            <a:pPr marL="45085">
              <a:lnSpc>
                <a:spcPct val="100000"/>
              </a:lnSpc>
              <a:spcBef>
                <a:spcPts val="105"/>
              </a:spcBef>
            </a:pPr>
            <a:r>
              <a:t>Problem</a:t>
            </a:r>
            <a:r>
              <a:rPr spc="-30"/>
              <a:t> </a:t>
            </a:r>
            <a:r>
              <a:rPr spc="-10"/>
              <a:t>Statement</a:t>
            </a:r>
          </a:p>
        </p:txBody>
      </p:sp>
      <p:sp>
        <p:nvSpPr>
          <p:cNvPr id="4" name="object 4">
            <a:extLst>
              <a:ext uri="{FF2B5EF4-FFF2-40B4-BE49-F238E27FC236}">
                <a16:creationId xmlns:a16="http://schemas.microsoft.com/office/drawing/2014/main" id="{9D35EC9C-5073-A831-3E61-8B8702B9C919}"/>
              </a:ext>
            </a:extLst>
          </p:cNvPr>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4</a:t>
            </a:fld>
            <a:endParaRPr spc="-50"/>
          </a:p>
        </p:txBody>
      </p:sp>
      <p:sp>
        <p:nvSpPr>
          <p:cNvPr id="9" name="TextBox 8">
            <a:extLst>
              <a:ext uri="{FF2B5EF4-FFF2-40B4-BE49-F238E27FC236}">
                <a16:creationId xmlns:a16="http://schemas.microsoft.com/office/drawing/2014/main" id="{07A4BE47-1E51-346F-480C-55B5BC0B4953}"/>
              </a:ext>
            </a:extLst>
          </p:cNvPr>
          <p:cNvSpPr txBox="1"/>
          <p:nvPr/>
        </p:nvSpPr>
        <p:spPr>
          <a:xfrm>
            <a:off x="66039" y="1040166"/>
            <a:ext cx="8635620" cy="3785652"/>
          </a:xfrm>
          <a:prstGeom prst="rect">
            <a:avLst/>
          </a:prstGeom>
          <a:noFill/>
        </p:spPr>
        <p:txBody>
          <a:bodyPr wrap="square">
            <a:spAutoFit/>
          </a:bodyPr>
          <a:lstStyle/>
          <a:p>
            <a:pPr marL="285750" indent="-285750" algn="just">
              <a:lnSpc>
                <a:spcPct val="100000"/>
              </a:lnSpc>
              <a:buFont typeface="Wingdings" panose="05000000000000000000" pitchFamily="2" charset="2"/>
              <a:buChar char="Ø"/>
            </a:pPr>
            <a:r>
              <a:rPr lang="en-IN" sz="2000" dirty="0"/>
              <a:t>Traditional civic complaint management systems often face challenges such as delayed responses, poor coordination between departments, duplicate complaints, lack of transparency, and inadequate monitoring of issue resolution. Citizens struggle to track their complaints and ensure timely action, while authorities lack efficient tools to prioritize problems based on severity and public impact. Therefore, LokSamadhan360 aims to develop an AI-powered civic complaint management platform that enables location-based complaint reporting, intelligent categorization, severity assessment, department-wise assignment, real-time status tracking, and resolution verification to improve government accountability and deliver faster, more efficient, and citizen-centric public services.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6294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39" y="188849"/>
            <a:ext cx="7432040" cy="516872"/>
          </a:xfrm>
          <a:prstGeom prst="rect">
            <a:avLst/>
          </a:prstGeom>
        </p:spPr>
        <p:txBody>
          <a:bodyPr vert="horz" wrap="square" lIns="0" tIns="54673" rIns="0" bIns="0" rtlCol="0" anchor="t">
            <a:spAutoFit/>
          </a:bodyPr>
          <a:lstStyle/>
          <a:p>
            <a:pPr marL="48260">
              <a:lnSpc>
                <a:spcPct val="100000"/>
              </a:lnSpc>
              <a:spcBef>
                <a:spcPts val="105"/>
              </a:spcBef>
            </a:pPr>
            <a:r>
              <a:rPr lang="en-US" spc="-10"/>
              <a:t>Introduction</a:t>
            </a:r>
            <a:endParaRPr spc="-1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5</a:t>
            </a:fld>
            <a:endParaRPr spc="-50"/>
          </a:p>
        </p:txBody>
      </p:sp>
      <p:sp>
        <p:nvSpPr>
          <p:cNvPr id="7" name="TextBox 6">
            <a:extLst>
              <a:ext uri="{FF2B5EF4-FFF2-40B4-BE49-F238E27FC236}">
                <a16:creationId xmlns:a16="http://schemas.microsoft.com/office/drawing/2014/main" id="{8175EF3E-A094-FA89-72DB-874E8F5F0D5D}"/>
              </a:ext>
            </a:extLst>
          </p:cNvPr>
          <p:cNvSpPr txBox="1"/>
          <p:nvPr/>
        </p:nvSpPr>
        <p:spPr>
          <a:xfrm>
            <a:off x="66039" y="1184022"/>
            <a:ext cx="8885173" cy="1938992"/>
          </a:xfrm>
          <a:prstGeom prst="rect">
            <a:avLst/>
          </a:prstGeom>
          <a:noFill/>
        </p:spPr>
        <p:txBody>
          <a:bodyPr wrap="square">
            <a:spAutoFit/>
          </a:bodyPr>
          <a:lstStyle/>
          <a:p>
            <a:r>
              <a:rPr lang="en-IN" sz="2000" dirty="0"/>
              <a:t>LokSamadhan360 is an AI-powered civic complaint management platform that connects citizens with government authorities to resolve public issues efficiently. It enables location-based complaint reporting, automatic categorization, department-wise assignment, and real-time status tracking. The platform aims to improve transparency, accountability, and the quality of public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5790" rIns="0" bIns="0" rtlCol="0">
            <a:spAutoFit/>
          </a:bodyPr>
          <a:lstStyle/>
          <a:p>
            <a:pPr marL="48260">
              <a:lnSpc>
                <a:spcPct val="100000"/>
              </a:lnSpc>
              <a:spcBef>
                <a:spcPts val="105"/>
              </a:spcBef>
            </a:pPr>
            <a:r>
              <a:rPr spc="-10"/>
              <a:t>Requirements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6</a:t>
            </a:fld>
            <a:endParaRPr spc="-50"/>
          </a:p>
        </p:txBody>
      </p:sp>
      <p:sp>
        <p:nvSpPr>
          <p:cNvPr id="7" name="TextBox 6">
            <a:extLst>
              <a:ext uri="{FF2B5EF4-FFF2-40B4-BE49-F238E27FC236}">
                <a16:creationId xmlns:a16="http://schemas.microsoft.com/office/drawing/2014/main" id="{44F45D22-4A53-03EF-59CB-7403F3D39DEA}"/>
              </a:ext>
            </a:extLst>
          </p:cNvPr>
          <p:cNvSpPr txBox="1"/>
          <p:nvPr/>
        </p:nvSpPr>
        <p:spPr>
          <a:xfrm>
            <a:off x="66039" y="1078139"/>
            <a:ext cx="8635619" cy="4062651"/>
          </a:xfrm>
          <a:prstGeom prst="rect">
            <a:avLst/>
          </a:prstGeom>
          <a:noFill/>
        </p:spPr>
        <p:txBody>
          <a:bodyPr wrap="square">
            <a:spAutoFit/>
          </a:bodyPr>
          <a:lstStyle/>
          <a:p>
            <a:pPr lvl="0"/>
            <a:r>
              <a:rPr lang="en-IN" sz="1600" b="1" dirty="0">
                <a:latin typeface="Times New Roman" panose="02020603050405020304" pitchFamily="18" charset="0"/>
                <a:cs typeface="Times New Roman" panose="02020603050405020304" pitchFamily="18" charset="0"/>
              </a:rPr>
              <a:t>Hardware Requirements:</a:t>
            </a:r>
          </a:p>
          <a:p>
            <a:pPr lvl="0"/>
            <a:r>
              <a:rPr lang="en-IN" sz="1600" dirty="0"/>
              <a:t>Processor: Intel Core i3 or above</a:t>
            </a:r>
          </a:p>
          <a:p>
            <a:pPr lvl="0"/>
            <a:r>
              <a:rPr lang="en-IN" sz="1600" dirty="0"/>
              <a:t>RAM: Minimum 4 GB (8 GB recommended)</a:t>
            </a:r>
          </a:p>
          <a:p>
            <a:pPr lvl="0"/>
            <a:r>
              <a:rPr lang="en-IN" sz="1600" dirty="0"/>
              <a:t>Storage: Minimum 256 GB HDD/SSD</a:t>
            </a:r>
          </a:p>
          <a:p>
            <a:pPr lvl="0"/>
            <a:r>
              <a:rPr lang="en-IN" sz="1600" dirty="0"/>
              <a:t>GPS Device: GPS-enabled smartphone for location-based complaint reporting</a:t>
            </a:r>
          </a:p>
          <a:p>
            <a:pPr lvl="0"/>
            <a:r>
              <a:rPr lang="en-IN" sz="1600" dirty="0"/>
              <a:t>Camera: Smartphone camera or webcam for capturing civic issues</a:t>
            </a:r>
          </a:p>
          <a:p>
            <a:pPr lvl="0"/>
            <a:endParaRPr lang="en-IN" sz="1600" dirty="0"/>
          </a:p>
          <a:p>
            <a:r>
              <a:rPr lang="en-IN" sz="1600" b="1" dirty="0">
                <a:latin typeface="Times New Roman" panose="02020603050405020304" pitchFamily="18" charset="0"/>
                <a:cs typeface="Times New Roman" panose="02020603050405020304" pitchFamily="18" charset="0"/>
              </a:rPr>
              <a:t>Software Requirements:</a:t>
            </a:r>
          </a:p>
          <a:p>
            <a:pPr lvl="0"/>
            <a:r>
              <a:rPr lang="en-IN" sz="1600" dirty="0"/>
              <a:t>Operating System: Windows 10/11 or Linux</a:t>
            </a:r>
          </a:p>
          <a:p>
            <a:pPr lvl="0"/>
            <a:r>
              <a:rPr lang="en-IN" sz="1600" dirty="0"/>
              <a:t>Frontend: HTML, CSS, JavaScript, React.js</a:t>
            </a:r>
          </a:p>
          <a:p>
            <a:pPr lvl="0"/>
            <a:r>
              <a:rPr lang="en-IN" sz="1600" dirty="0"/>
              <a:t>Backend: Node.js</a:t>
            </a:r>
          </a:p>
          <a:p>
            <a:pPr lvl="0"/>
            <a:r>
              <a:rPr lang="en-IN" sz="1600" dirty="0"/>
              <a:t>Database: MongoDB</a:t>
            </a:r>
          </a:p>
          <a:p>
            <a:pPr lvl="0"/>
            <a:r>
              <a:rPr lang="en-IN" sz="1600" dirty="0"/>
              <a:t>AI/ML: Python, Machine Learning libraries</a:t>
            </a:r>
          </a:p>
          <a:p>
            <a:pPr lvl="0"/>
            <a:r>
              <a:rPr lang="en-IN" sz="1600" dirty="0"/>
              <a:t>Maps &amp; Location: Google Maps API / OpenStreetMap</a:t>
            </a:r>
          </a:p>
          <a:p>
            <a:pPr lvl="0"/>
            <a:r>
              <a:rPr lang="en-IN" sz="1600" dirty="0"/>
              <a:t>Development Tools: Visual Studio Code, Git, GitHub</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6110" rIns="0" bIns="0" rtlCol="0">
            <a:spAutoFit/>
          </a:bodyPr>
          <a:lstStyle/>
          <a:p>
            <a:pPr marL="48260">
              <a:lnSpc>
                <a:spcPct val="100000"/>
              </a:lnSpc>
              <a:spcBef>
                <a:spcPts val="105"/>
              </a:spcBef>
            </a:pPr>
            <a:r>
              <a:rPr spc="-10" dirty="0"/>
              <a:t>Prerequisites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7</a:t>
            </a:fld>
            <a:endParaRPr spc="-50"/>
          </a:p>
        </p:txBody>
      </p:sp>
      <p:sp>
        <p:nvSpPr>
          <p:cNvPr id="3" name="object 3"/>
          <p:cNvSpPr txBox="1"/>
          <p:nvPr/>
        </p:nvSpPr>
        <p:spPr>
          <a:xfrm>
            <a:off x="169928" y="1145920"/>
            <a:ext cx="7521575" cy="3257110"/>
          </a:xfrm>
          <a:prstGeom prst="rect">
            <a:avLst/>
          </a:prstGeom>
        </p:spPr>
        <p:txBody>
          <a:bodyPr vert="horz" wrap="square" lIns="0" tIns="8890" rIns="0" bIns="0" rtlCol="0" anchor="t">
            <a:spAutoFit/>
          </a:bodyPr>
          <a:lstStyle/>
          <a:p>
            <a:pPr marL="180975" marR="233045" indent="-168275" algn="just">
              <a:lnSpc>
                <a:spcPct val="150000"/>
              </a:lnSpc>
              <a:spcBef>
                <a:spcPts val="70"/>
              </a:spcBef>
              <a:buClr>
                <a:srgbClr val="005093"/>
              </a:buClr>
              <a:buFont typeface="Wingdings"/>
              <a:buChar char="Ø"/>
              <a:tabLst>
                <a:tab pos="180975" algn="l"/>
                <a:tab pos="297815" algn="l"/>
              </a:tabLst>
            </a:pPr>
            <a:r>
              <a:rPr lang="en-US" b="1" spc="-10" dirty="0">
                <a:solidFill>
                  <a:srgbClr val="525252"/>
                </a:solidFill>
                <a:latin typeface="Times New Roman" panose="02020603050405020304" pitchFamily="18" charset="0"/>
                <a:ea typeface="Calibri"/>
                <a:cs typeface="Times New Roman" panose="02020603050405020304" pitchFamily="18" charset="0"/>
              </a:rPr>
              <a:t>Prerequisites:</a:t>
            </a:r>
          </a:p>
          <a:p>
            <a:pPr marL="342900" lvl="0" indent="-342900">
              <a:buFont typeface="Arial" panose="020B0604020202020204" pitchFamily="34" charset="0"/>
              <a:buChar char="•"/>
            </a:pPr>
            <a:r>
              <a:rPr lang="en-IN" dirty="0"/>
              <a:t>Basic knowledge of web development (HTML, CSS, JavaScript).</a:t>
            </a:r>
          </a:p>
          <a:p>
            <a:pPr marL="342900" lvl="0" indent="-342900">
              <a:buFont typeface="Arial" panose="020B0604020202020204" pitchFamily="34" charset="0"/>
              <a:buChar char="•"/>
            </a:pPr>
            <a:r>
              <a:rPr lang="en-IN" dirty="0"/>
              <a:t>Understanding of frontend and backend technologies.</a:t>
            </a:r>
          </a:p>
          <a:p>
            <a:pPr marL="342900" lvl="0" indent="-342900">
              <a:buFont typeface="Arial" panose="020B0604020202020204" pitchFamily="34" charset="0"/>
              <a:buChar char="•"/>
            </a:pPr>
            <a:r>
              <a:rPr lang="en-IN" dirty="0"/>
              <a:t>Basic knowledge of databases and data management.</a:t>
            </a:r>
          </a:p>
          <a:p>
            <a:pPr marL="342900" lvl="0" indent="-342900">
              <a:buFont typeface="Arial" panose="020B0604020202020204" pitchFamily="34" charset="0"/>
              <a:buChar char="•"/>
            </a:pPr>
            <a:r>
              <a:rPr lang="en-IN" dirty="0"/>
              <a:t>Familiarity with AI/ML concepts for complaint analysis.</a:t>
            </a:r>
          </a:p>
          <a:p>
            <a:pPr marL="342900" lvl="0" indent="-342900">
              <a:buFont typeface="Arial" panose="020B0604020202020204" pitchFamily="34" charset="0"/>
              <a:buChar char="•"/>
            </a:pPr>
            <a:r>
              <a:rPr lang="en-IN" dirty="0"/>
              <a:t>Access to GPS, maps, and image-upload services.</a:t>
            </a:r>
          </a:p>
          <a:p>
            <a:pPr marL="342900" lvl="0" indent="-342900">
              <a:buFont typeface="Arial" panose="020B0604020202020204" pitchFamily="34" charset="0"/>
              <a:buChar char="•"/>
            </a:pPr>
            <a:r>
              <a:rPr lang="en-IN" dirty="0"/>
              <a:t>Visual Studio Code and Git/GitHub for development.</a:t>
            </a:r>
          </a:p>
          <a:p>
            <a:pPr marL="342900" lvl="0" indent="-342900">
              <a:buFont typeface="Arial" panose="020B0604020202020204" pitchFamily="34" charset="0"/>
              <a:buChar char="•"/>
            </a:pPr>
            <a:r>
              <a:rPr lang="en-IN" dirty="0"/>
              <a:t>Stable internet connection for API integration and testing.</a:t>
            </a:r>
          </a:p>
          <a:p>
            <a:pPr marL="180975" marR="233045" indent="-168275" algn="just">
              <a:lnSpc>
                <a:spcPct val="150000"/>
              </a:lnSpc>
              <a:spcBef>
                <a:spcPts val="70"/>
              </a:spcBef>
              <a:buClr>
                <a:srgbClr val="005093"/>
              </a:buClr>
              <a:buFont typeface="Wingdings"/>
              <a:buChar char="Ø"/>
              <a:tabLst>
                <a:tab pos="180975" algn="l"/>
                <a:tab pos="297815" algn="l"/>
              </a:tabLst>
            </a:pPr>
            <a:endParaRPr lang="en-US" sz="2000" spc="-10" dirty="0">
              <a:solidFill>
                <a:srgbClr val="525252"/>
              </a:solidFill>
              <a:latin typeface="Times New Roman" panose="02020603050405020304" pitchFamily="18" charset="0"/>
              <a:ea typeface="Calibri"/>
              <a:cs typeface="Times New Roman" panose="02020603050405020304" pitchFamily="18" charset="0"/>
            </a:endParaRPr>
          </a:p>
          <a:p>
            <a:pPr marL="180975" marR="233045" indent="-168275" algn="just">
              <a:lnSpc>
                <a:spcPct val="150000"/>
              </a:lnSpc>
              <a:spcBef>
                <a:spcPts val="70"/>
              </a:spcBef>
              <a:buClr>
                <a:srgbClr val="005093"/>
              </a:buClr>
              <a:buFont typeface="Wingdings"/>
              <a:buChar char="Ø"/>
              <a:tabLst>
                <a:tab pos="180975" algn="l"/>
                <a:tab pos="297815" algn="l"/>
              </a:tabLst>
            </a:pPr>
            <a:endParaRPr lang="en-US" sz="2000" spc="-10" dirty="0">
              <a:solidFill>
                <a:srgbClr val="525252"/>
              </a:solidFill>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7C644-5723-B512-6E50-D669BF3664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428F344-CC97-179B-C625-61977254C8EF}"/>
              </a:ext>
            </a:extLst>
          </p:cNvPr>
          <p:cNvSpPr txBox="1">
            <a:spLocks noGrp="1"/>
          </p:cNvSpPr>
          <p:nvPr>
            <p:ph type="title"/>
          </p:nvPr>
        </p:nvSpPr>
        <p:spPr>
          <a:xfrm>
            <a:off x="66039" y="188849"/>
            <a:ext cx="7432040" cy="589006"/>
          </a:xfrm>
          <a:prstGeom prst="rect">
            <a:avLst/>
          </a:prstGeom>
        </p:spPr>
        <p:txBody>
          <a:bodyPr vert="horz" wrap="square" lIns="0" tIns="126110" rIns="0" bIns="0" rtlCol="0" anchor="t">
            <a:spAutoFit/>
          </a:bodyPr>
          <a:lstStyle/>
          <a:p>
            <a:pPr marL="48260">
              <a:spcBef>
                <a:spcPts val="105"/>
              </a:spcBef>
            </a:pPr>
            <a:r>
              <a:rPr lang="en-US" spc="-10"/>
              <a:t>Technologies Used</a:t>
            </a:r>
            <a:endParaRPr spc="-10"/>
          </a:p>
        </p:txBody>
      </p:sp>
      <p:sp>
        <p:nvSpPr>
          <p:cNvPr id="4" name="object 4">
            <a:extLst>
              <a:ext uri="{FF2B5EF4-FFF2-40B4-BE49-F238E27FC236}">
                <a16:creationId xmlns:a16="http://schemas.microsoft.com/office/drawing/2014/main" id="{68D43FF3-5824-9BAF-E82C-120C63549E3C}"/>
              </a:ext>
            </a:extLst>
          </p:cNvPr>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8</a:t>
            </a:fld>
            <a:endParaRPr spc="-50"/>
          </a:p>
        </p:txBody>
      </p:sp>
      <p:sp>
        <p:nvSpPr>
          <p:cNvPr id="3" name="object 3">
            <a:extLst>
              <a:ext uri="{FF2B5EF4-FFF2-40B4-BE49-F238E27FC236}">
                <a16:creationId xmlns:a16="http://schemas.microsoft.com/office/drawing/2014/main" id="{3CC544C6-C732-5286-8815-60696AA800A1}"/>
              </a:ext>
            </a:extLst>
          </p:cNvPr>
          <p:cNvSpPr txBox="1"/>
          <p:nvPr/>
        </p:nvSpPr>
        <p:spPr>
          <a:xfrm>
            <a:off x="192788" y="1390305"/>
            <a:ext cx="8758424" cy="2778966"/>
          </a:xfrm>
          <a:prstGeom prst="rect">
            <a:avLst/>
          </a:prstGeom>
        </p:spPr>
        <p:txBody>
          <a:bodyPr vert="horz" wrap="square" lIns="0" tIns="8890" rIns="0" bIns="0" rtlCol="0" anchor="t">
            <a:spAutoFit/>
          </a:bodyPr>
          <a:lstStyle/>
          <a:p>
            <a:pPr marL="342900" lvl="0" indent="-342900">
              <a:buFont typeface="Arial" panose="020B0604020202020204" pitchFamily="34" charset="0"/>
              <a:buChar char="•"/>
            </a:pPr>
            <a:r>
              <a:rPr lang="en-IN" sz="2000" dirty="0"/>
              <a:t>Frontend: React.js, HTML, CSS, JavaScript</a:t>
            </a:r>
          </a:p>
          <a:p>
            <a:pPr marL="342900" lvl="0" indent="-342900">
              <a:buFont typeface="Arial" panose="020B0604020202020204" pitchFamily="34" charset="0"/>
              <a:buChar char="•"/>
            </a:pPr>
            <a:r>
              <a:rPr lang="en-IN" sz="2000" dirty="0"/>
              <a:t>Backend: Node.js, Express.js</a:t>
            </a:r>
          </a:p>
          <a:p>
            <a:pPr marL="342900" lvl="0" indent="-342900">
              <a:buFont typeface="Arial" panose="020B0604020202020204" pitchFamily="34" charset="0"/>
              <a:buChar char="•"/>
            </a:pPr>
            <a:r>
              <a:rPr lang="en-IN" sz="2000" dirty="0"/>
              <a:t>Database: MongoDB</a:t>
            </a:r>
          </a:p>
          <a:p>
            <a:pPr marL="342900" lvl="0" indent="-342900">
              <a:buFont typeface="Arial" panose="020B0604020202020204" pitchFamily="34" charset="0"/>
              <a:buChar char="•"/>
            </a:pPr>
            <a:r>
              <a:rPr lang="en-IN" sz="2000" dirty="0"/>
              <a:t>AI/ML: Python, Machine Learning</a:t>
            </a:r>
          </a:p>
          <a:p>
            <a:pPr marL="342900" lvl="0" indent="-342900">
              <a:buFont typeface="Arial" panose="020B0604020202020204" pitchFamily="34" charset="0"/>
              <a:buChar char="•"/>
            </a:pPr>
            <a:r>
              <a:rPr lang="en-IN" sz="2000" dirty="0"/>
              <a:t>Maps &amp; Geolocation: Google Maps API / OpenStreetMap</a:t>
            </a:r>
          </a:p>
          <a:p>
            <a:pPr marL="342900" lvl="0" indent="-342900">
              <a:buFont typeface="Arial" panose="020B0604020202020204" pitchFamily="34" charset="0"/>
              <a:buChar char="•"/>
            </a:pPr>
            <a:r>
              <a:rPr lang="en-IN" sz="2000" dirty="0"/>
              <a:t>Authentication: JWT / OTP verification</a:t>
            </a:r>
          </a:p>
          <a:p>
            <a:pPr marL="342900" lvl="0" indent="-342900">
              <a:buFont typeface="Arial" panose="020B0604020202020204" pitchFamily="34" charset="0"/>
              <a:buChar char="•"/>
            </a:pPr>
            <a:r>
              <a:rPr lang="en-IN" sz="2000" dirty="0"/>
              <a:t>Image Processing: OpenCV</a:t>
            </a:r>
          </a:p>
          <a:p>
            <a:pPr marL="342900" lvl="0" indent="-342900">
              <a:buFont typeface="Arial" panose="020B0604020202020204" pitchFamily="34" charset="0"/>
              <a:buChar char="•"/>
            </a:pPr>
            <a:r>
              <a:rPr lang="en-IN" sz="2000" dirty="0"/>
              <a:t>Development Tools: Visual Studio Code, Git, GitHub</a:t>
            </a:r>
          </a:p>
          <a:p>
            <a:pPr marL="342900" lvl="0" indent="-342900">
              <a:buFont typeface="Arial" panose="020B0604020202020204" pitchFamily="34" charset="0"/>
              <a:buChar char="•"/>
            </a:pPr>
            <a:r>
              <a:rPr lang="en-IN" sz="2000" dirty="0"/>
              <a:t>Deployment: </a:t>
            </a:r>
            <a:r>
              <a:rPr lang="en-IN" sz="2000" dirty="0" err="1"/>
              <a:t>Vercel</a:t>
            </a:r>
            <a:r>
              <a:rPr lang="en-IN" sz="2000" dirty="0"/>
              <a:t> / Render</a:t>
            </a:r>
          </a:p>
        </p:txBody>
      </p:sp>
    </p:spTree>
    <p:extLst>
      <p:ext uri="{BB962C8B-B14F-4D97-AF65-F5344CB8AC3E}">
        <p14:creationId xmlns:p14="http://schemas.microsoft.com/office/powerpoint/2010/main" val="2448590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C5EFA-836E-296A-BF2D-864F2F903AA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FA0894-7C08-293D-1BD7-C8DEA130863C}"/>
              </a:ext>
            </a:extLst>
          </p:cNvPr>
          <p:cNvSpPr txBox="1">
            <a:spLocks noGrp="1"/>
          </p:cNvSpPr>
          <p:nvPr>
            <p:ph type="title"/>
          </p:nvPr>
        </p:nvSpPr>
        <p:spPr>
          <a:xfrm>
            <a:off x="66039" y="188849"/>
            <a:ext cx="7432040" cy="589006"/>
          </a:xfrm>
          <a:prstGeom prst="rect">
            <a:avLst/>
          </a:prstGeom>
        </p:spPr>
        <p:txBody>
          <a:bodyPr vert="horz" wrap="square" lIns="0" tIns="126110" rIns="0" bIns="0" rtlCol="0" anchor="t">
            <a:spAutoFit/>
          </a:bodyPr>
          <a:lstStyle/>
          <a:p>
            <a:pPr marL="48260">
              <a:spcBef>
                <a:spcPts val="105"/>
              </a:spcBef>
            </a:pPr>
            <a:r>
              <a:rPr lang="en-US" spc="-10" dirty="0"/>
              <a:t>Algorithms Used</a:t>
            </a:r>
            <a:endParaRPr spc="-10" dirty="0"/>
          </a:p>
        </p:txBody>
      </p:sp>
      <p:sp>
        <p:nvSpPr>
          <p:cNvPr id="4" name="object 4">
            <a:extLst>
              <a:ext uri="{FF2B5EF4-FFF2-40B4-BE49-F238E27FC236}">
                <a16:creationId xmlns:a16="http://schemas.microsoft.com/office/drawing/2014/main" id="{7D0F1084-88DE-74D3-D4C9-39DFC28E197B}"/>
              </a:ext>
            </a:extLst>
          </p:cNvPr>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9</a:t>
            </a:fld>
            <a:endParaRPr spc="-50"/>
          </a:p>
        </p:txBody>
      </p:sp>
      <p:sp>
        <p:nvSpPr>
          <p:cNvPr id="3" name="object 3">
            <a:extLst>
              <a:ext uri="{FF2B5EF4-FFF2-40B4-BE49-F238E27FC236}">
                <a16:creationId xmlns:a16="http://schemas.microsoft.com/office/drawing/2014/main" id="{CFBB17F6-091D-D2C4-D2E2-B1EFEAC9A4A0}"/>
              </a:ext>
            </a:extLst>
          </p:cNvPr>
          <p:cNvSpPr txBox="1"/>
          <p:nvPr/>
        </p:nvSpPr>
        <p:spPr>
          <a:xfrm>
            <a:off x="192788" y="1184565"/>
            <a:ext cx="8758424" cy="3409908"/>
          </a:xfrm>
          <a:prstGeom prst="rect">
            <a:avLst/>
          </a:prstGeom>
        </p:spPr>
        <p:txBody>
          <a:bodyPr vert="horz" wrap="square" lIns="0" tIns="8890" rIns="0" bIns="0" rtlCol="0" anchor="t">
            <a:spAutoFit/>
          </a:bodyPr>
          <a:lstStyle/>
          <a:p>
            <a:pPr marL="285750" lvl="0" indent="-285750">
              <a:buFont typeface="Arial" panose="020B0604020202020204" pitchFamily="34" charset="0"/>
              <a:buChar char="•"/>
            </a:pPr>
            <a:r>
              <a:rPr lang="en-IN" sz="1700" b="1" dirty="0"/>
              <a:t>Classification Algorithm</a:t>
            </a:r>
            <a:r>
              <a:rPr lang="en-IN" sz="1700" dirty="0"/>
              <a:t>: Categorizes civic complaints into departments such as roads, electricity, water, and sanitation.</a:t>
            </a:r>
          </a:p>
          <a:p>
            <a:pPr marL="285750" lvl="0" indent="-285750">
              <a:buFont typeface="Arial" panose="020B0604020202020204" pitchFamily="34" charset="0"/>
              <a:buChar char="•"/>
            </a:pPr>
            <a:r>
              <a:rPr lang="en-IN" sz="1700" b="1" dirty="0"/>
              <a:t>Duplicate Detection Algorithm</a:t>
            </a:r>
            <a:r>
              <a:rPr lang="en-IN" sz="1700" dirty="0"/>
              <a:t>: Uses text similarity to identify repeated complaints about the same issue.</a:t>
            </a:r>
          </a:p>
          <a:p>
            <a:pPr marL="285750" lvl="0" indent="-285750">
              <a:buFont typeface="Arial" panose="020B0604020202020204" pitchFamily="34" charset="0"/>
              <a:buChar char="•"/>
            </a:pPr>
            <a:r>
              <a:rPr lang="en-IN" sz="1700" b="1" dirty="0"/>
              <a:t>Severity Assessment Algorithm:</a:t>
            </a:r>
            <a:r>
              <a:rPr lang="en-IN" sz="1700" dirty="0"/>
              <a:t> Assigns priority levels based on complaint type, severity, and public impact.</a:t>
            </a:r>
          </a:p>
          <a:p>
            <a:pPr marL="285750" lvl="0" indent="-285750">
              <a:buFont typeface="Arial" panose="020B0604020202020204" pitchFamily="34" charset="0"/>
              <a:buChar char="•"/>
            </a:pPr>
            <a:r>
              <a:rPr lang="en-IN" sz="1700" b="1" dirty="0"/>
              <a:t>Geolocation Algorithm:</a:t>
            </a:r>
            <a:r>
              <a:rPr lang="en-IN" sz="1700" dirty="0"/>
              <a:t> Uses GPS coordinates to identify the complaint location and nearby issues.</a:t>
            </a:r>
          </a:p>
          <a:p>
            <a:pPr marL="285750" lvl="0" indent="-285750">
              <a:buFont typeface="Arial" panose="020B0604020202020204" pitchFamily="34" charset="0"/>
              <a:buChar char="•"/>
            </a:pPr>
            <a:r>
              <a:rPr lang="en-IN" sz="1700" b="1" dirty="0"/>
              <a:t>Image Classification Algorithm:</a:t>
            </a:r>
            <a:r>
              <a:rPr lang="en-IN" sz="1700" dirty="0"/>
              <a:t> Uses computer vision to </a:t>
            </a:r>
            <a:r>
              <a:rPr lang="en-IN" sz="1700" dirty="0" err="1"/>
              <a:t>analyze</a:t>
            </a:r>
            <a:r>
              <a:rPr lang="en-IN" sz="1700" dirty="0"/>
              <a:t> uploaded images and identify civic problems.</a:t>
            </a:r>
          </a:p>
          <a:p>
            <a:pPr marL="285750" lvl="0" indent="-285750">
              <a:buFont typeface="Arial" panose="020B0604020202020204" pitchFamily="34" charset="0"/>
              <a:buChar char="•"/>
            </a:pPr>
            <a:r>
              <a:rPr lang="en-IN" sz="1700" b="1" dirty="0"/>
              <a:t>Priority Ranking Algorithm:</a:t>
            </a:r>
            <a:r>
              <a:rPr lang="en-IN" sz="1700" dirty="0"/>
              <a:t> Ranks complaints based on urgency, severity, and community impact.</a:t>
            </a:r>
          </a:p>
          <a:p>
            <a:pPr marL="285750" lvl="0" indent="-285750">
              <a:buFont typeface="Arial" panose="020B0604020202020204" pitchFamily="34" charset="0"/>
              <a:buChar char="•"/>
            </a:pPr>
            <a:r>
              <a:rPr lang="en-IN" sz="1700" b="1" dirty="0"/>
              <a:t>Clustering Algorithm:</a:t>
            </a:r>
            <a:r>
              <a:rPr lang="en-IN" sz="1700" dirty="0"/>
              <a:t> Groups nearby complaints to identify civic problem hotspots.</a:t>
            </a:r>
          </a:p>
        </p:txBody>
      </p:sp>
    </p:spTree>
    <p:extLst>
      <p:ext uri="{BB962C8B-B14F-4D97-AF65-F5344CB8AC3E}">
        <p14:creationId xmlns:p14="http://schemas.microsoft.com/office/powerpoint/2010/main" val="3738685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1BA9E-C8CB-2364-860E-789211D1FEC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7532DD-CEAA-0D06-2C1F-99CD896CB5E1}"/>
              </a:ext>
            </a:extLst>
          </p:cNvPr>
          <p:cNvSpPr txBox="1">
            <a:spLocks noGrp="1"/>
          </p:cNvSpPr>
          <p:nvPr>
            <p:ph type="title"/>
          </p:nvPr>
        </p:nvSpPr>
        <p:spPr>
          <a:xfrm>
            <a:off x="66039" y="188849"/>
            <a:ext cx="7432040" cy="589006"/>
          </a:xfrm>
          <a:prstGeom prst="rect">
            <a:avLst/>
          </a:prstGeom>
        </p:spPr>
        <p:txBody>
          <a:bodyPr vert="horz" wrap="square" lIns="0" tIns="126110" rIns="0" bIns="0" rtlCol="0" anchor="t">
            <a:spAutoFit/>
          </a:bodyPr>
          <a:lstStyle/>
          <a:p>
            <a:pPr marL="48260">
              <a:spcBef>
                <a:spcPts val="105"/>
              </a:spcBef>
            </a:pPr>
            <a:r>
              <a:rPr lang="en-US" spc="-10"/>
              <a:t>Literature Review</a:t>
            </a:r>
          </a:p>
        </p:txBody>
      </p:sp>
      <p:sp>
        <p:nvSpPr>
          <p:cNvPr id="4" name="object 4">
            <a:extLst>
              <a:ext uri="{FF2B5EF4-FFF2-40B4-BE49-F238E27FC236}">
                <a16:creationId xmlns:a16="http://schemas.microsoft.com/office/drawing/2014/main" id="{260E3684-0954-94BF-F495-007DB5664635}"/>
              </a:ext>
            </a:extLst>
          </p:cNvPr>
          <p:cNvSpPr txBox="1">
            <a:spLocks noGrp="1"/>
          </p:cNvSpPr>
          <p:nvPr>
            <p:ph type="sldNum" sz="quarter" idx="7"/>
          </p:nvPr>
        </p:nvSpPr>
        <p:spPr>
          <a:prstGeom prst="rect">
            <a:avLst/>
          </a:prstGeom>
        </p:spPr>
        <p:txBody>
          <a:bodyPr vert="horz" wrap="square" lIns="0" tIns="0" rIns="0" bIns="0" rtlCol="0">
            <a:spAutoFit/>
          </a:bodyPr>
          <a:lstStyle/>
          <a:p>
            <a:pPr marL="111125">
              <a:lnSpc>
                <a:spcPts val="1425"/>
              </a:lnSpc>
            </a:pPr>
            <a:fld id="{81D60167-4931-47E6-BA6A-407CBD079E47}" type="slidenum">
              <a:rPr spc="-50" dirty="0"/>
              <a:t>10</a:t>
            </a:fld>
            <a:endParaRPr spc="-50"/>
          </a:p>
        </p:txBody>
      </p:sp>
      <p:graphicFrame>
        <p:nvGraphicFramePr>
          <p:cNvPr id="3" name="Table 2">
            <a:extLst>
              <a:ext uri="{FF2B5EF4-FFF2-40B4-BE49-F238E27FC236}">
                <a16:creationId xmlns:a16="http://schemas.microsoft.com/office/drawing/2014/main" id="{33FDA156-8C17-BAF0-231C-D5C90A64A1B8}"/>
              </a:ext>
            </a:extLst>
          </p:cNvPr>
          <p:cNvGraphicFramePr>
            <a:graphicFrameLocks noGrp="1"/>
          </p:cNvGraphicFramePr>
          <p:nvPr>
            <p:extLst>
              <p:ext uri="{D42A27DB-BD31-4B8C-83A1-F6EECF244321}">
                <p14:modId xmlns:p14="http://schemas.microsoft.com/office/powerpoint/2010/main" val="629633356"/>
              </p:ext>
            </p:extLst>
          </p:nvPr>
        </p:nvGraphicFramePr>
        <p:xfrm>
          <a:off x="0" y="1036320"/>
          <a:ext cx="9144000" cy="3802380"/>
        </p:xfrm>
        <a:graphic>
          <a:graphicData uri="http://schemas.openxmlformats.org/drawingml/2006/table">
            <a:tbl>
              <a:tblPr>
                <a:tableStyleId>{5C22544A-7EE6-4342-B048-85BDC9FD1C3A}</a:tableStyleId>
              </a:tblPr>
              <a:tblGrid>
                <a:gridCol w="3048000">
                  <a:extLst>
                    <a:ext uri="{9D8B030D-6E8A-4147-A177-3AD203B41FA5}">
                      <a16:colId xmlns:a16="http://schemas.microsoft.com/office/drawing/2014/main" val="417338907"/>
                    </a:ext>
                  </a:extLst>
                </a:gridCol>
                <a:gridCol w="3048000">
                  <a:extLst>
                    <a:ext uri="{9D8B030D-6E8A-4147-A177-3AD203B41FA5}">
                      <a16:colId xmlns:a16="http://schemas.microsoft.com/office/drawing/2014/main" val="2384963760"/>
                    </a:ext>
                  </a:extLst>
                </a:gridCol>
                <a:gridCol w="3048000">
                  <a:extLst>
                    <a:ext uri="{9D8B030D-6E8A-4147-A177-3AD203B41FA5}">
                      <a16:colId xmlns:a16="http://schemas.microsoft.com/office/drawing/2014/main" val="1218882471"/>
                    </a:ext>
                  </a:extLst>
                </a:gridCol>
              </a:tblGrid>
              <a:tr h="277609">
                <a:tc>
                  <a:txBody>
                    <a:bodyPr/>
                    <a:lstStyle/>
                    <a:p>
                      <a:pPr>
                        <a:buNone/>
                      </a:pPr>
                      <a:r>
                        <a:rPr lang="en-IN" sz="1500"/>
                        <a:t>S.No.</a:t>
                      </a:r>
                    </a:p>
                  </a:txBody>
                  <a:tcPr marL="37975" marR="37975" marT="18987" marB="18987" anchor="ctr"/>
                </a:tc>
                <a:tc>
                  <a:txBody>
                    <a:bodyPr/>
                    <a:lstStyle/>
                    <a:p>
                      <a:pPr>
                        <a:buNone/>
                      </a:pPr>
                      <a:r>
                        <a:rPr lang="en-IN" sz="1500"/>
                        <a:t>Research Area</a:t>
                      </a:r>
                    </a:p>
                  </a:txBody>
                  <a:tcPr marL="37975" marR="37975" marT="18987" marB="18987" anchor="ctr"/>
                </a:tc>
                <a:tc>
                  <a:txBody>
                    <a:bodyPr/>
                    <a:lstStyle/>
                    <a:p>
                      <a:pPr>
                        <a:buNone/>
                      </a:pPr>
                      <a:r>
                        <a:rPr lang="en-IN" sz="1500"/>
                        <a:t>Description</a:t>
                      </a:r>
                    </a:p>
                  </a:txBody>
                  <a:tcPr marL="37975" marR="37975" marT="18987" marB="18987" anchor="ctr"/>
                </a:tc>
                <a:extLst>
                  <a:ext uri="{0D108BD9-81ED-4DB2-BD59-A6C34878D82A}">
                    <a16:rowId xmlns:a16="http://schemas.microsoft.com/office/drawing/2014/main" val="237090404"/>
                  </a:ext>
                </a:extLst>
              </a:tr>
              <a:tr h="747890">
                <a:tc>
                  <a:txBody>
                    <a:bodyPr/>
                    <a:lstStyle/>
                    <a:p>
                      <a:pPr>
                        <a:buNone/>
                      </a:pPr>
                      <a:r>
                        <a:rPr lang="en-IN" sz="1500" dirty="0"/>
                        <a:t>1</a:t>
                      </a:r>
                    </a:p>
                  </a:txBody>
                  <a:tcPr marL="37975" marR="37975" marT="18987" marB="18987" anchor="ctr"/>
                </a:tc>
                <a:tc>
                  <a:txBody>
                    <a:bodyPr/>
                    <a:lstStyle/>
                    <a:p>
                      <a:pPr>
                        <a:buNone/>
                      </a:pPr>
                      <a:r>
                        <a:rPr lang="en-IN" sz="1500"/>
                        <a:t>E-Governance Systems</a:t>
                      </a:r>
                    </a:p>
                  </a:txBody>
                  <a:tcPr marL="37975" marR="37975" marT="18987" marB="18987" anchor="ctr"/>
                </a:tc>
                <a:tc>
                  <a:txBody>
                    <a:bodyPr/>
                    <a:lstStyle/>
                    <a:p>
                      <a:pPr>
                        <a:buNone/>
                      </a:pPr>
                      <a:r>
                        <a:rPr lang="en-IN" sz="1500"/>
                        <a:t>Enable citizens to submit complaints online and track their status.</a:t>
                      </a:r>
                    </a:p>
                  </a:txBody>
                  <a:tcPr marL="37975" marR="37975" marT="18987" marB="18987" anchor="ctr"/>
                </a:tc>
                <a:extLst>
                  <a:ext uri="{0D108BD9-81ED-4DB2-BD59-A6C34878D82A}">
                    <a16:rowId xmlns:a16="http://schemas.microsoft.com/office/drawing/2014/main" val="593398076"/>
                  </a:ext>
                </a:extLst>
              </a:tr>
              <a:tr h="753736">
                <a:tc>
                  <a:txBody>
                    <a:bodyPr/>
                    <a:lstStyle/>
                    <a:p>
                      <a:pPr>
                        <a:buNone/>
                      </a:pPr>
                      <a:r>
                        <a:rPr lang="en-IN" sz="1500" dirty="0"/>
                        <a:t>2</a:t>
                      </a:r>
                    </a:p>
                  </a:txBody>
                  <a:tcPr marL="37975" marR="37975" marT="18987" marB="18987" anchor="ctr"/>
                </a:tc>
                <a:tc>
                  <a:txBody>
                    <a:bodyPr/>
                    <a:lstStyle/>
                    <a:p>
                      <a:pPr>
                        <a:buNone/>
                      </a:pPr>
                      <a:r>
                        <a:rPr lang="en-IN" sz="1500" dirty="0"/>
                        <a:t>Smart City Applications</a:t>
                      </a:r>
                    </a:p>
                  </a:txBody>
                  <a:tcPr marL="37975" marR="37975" marT="18987" marB="18987" anchor="ctr"/>
                </a:tc>
                <a:tc>
                  <a:txBody>
                    <a:bodyPr/>
                    <a:lstStyle/>
                    <a:p>
                      <a:pPr>
                        <a:buNone/>
                      </a:pPr>
                      <a:r>
                        <a:rPr lang="en-IN" sz="1500"/>
                        <a:t>Use digital technologies to improve urban infrastructure and public services.</a:t>
                      </a:r>
                    </a:p>
                  </a:txBody>
                  <a:tcPr marL="37975" marR="37975" marT="18987" marB="18987" anchor="ctr"/>
                </a:tc>
                <a:extLst>
                  <a:ext uri="{0D108BD9-81ED-4DB2-BD59-A6C34878D82A}">
                    <a16:rowId xmlns:a16="http://schemas.microsoft.com/office/drawing/2014/main" val="1707951953"/>
                  </a:ext>
                </a:extLst>
              </a:tr>
              <a:tr h="515673">
                <a:tc>
                  <a:txBody>
                    <a:bodyPr/>
                    <a:lstStyle/>
                    <a:p>
                      <a:pPr>
                        <a:buNone/>
                      </a:pPr>
                      <a:r>
                        <a:rPr lang="en-IN" sz="1500"/>
                        <a:t>3</a:t>
                      </a:r>
                    </a:p>
                  </a:txBody>
                  <a:tcPr marL="37975" marR="37975" marT="18987" marB="18987" anchor="ctr"/>
                </a:tc>
                <a:tc>
                  <a:txBody>
                    <a:bodyPr/>
                    <a:lstStyle/>
                    <a:p>
                      <a:pPr>
                        <a:buNone/>
                      </a:pPr>
                      <a:r>
                        <a:rPr lang="en-IN" sz="1500"/>
                        <a:t>GIS-Based Complaint Management</a:t>
                      </a:r>
                    </a:p>
                  </a:txBody>
                  <a:tcPr marL="37975" marR="37975" marT="18987" marB="18987" anchor="ctr"/>
                </a:tc>
                <a:tc>
                  <a:txBody>
                    <a:bodyPr/>
                    <a:lstStyle/>
                    <a:p>
                      <a:pPr>
                        <a:buNone/>
                      </a:pPr>
                      <a:r>
                        <a:rPr lang="en-IN" sz="1500" dirty="0"/>
                        <a:t>Uses geographical information to identify and locate civic issues.</a:t>
                      </a:r>
                    </a:p>
                  </a:txBody>
                  <a:tcPr marL="37975" marR="37975" marT="18987" marB="18987" anchor="ctr"/>
                </a:tc>
                <a:extLst>
                  <a:ext uri="{0D108BD9-81ED-4DB2-BD59-A6C34878D82A}">
                    <a16:rowId xmlns:a16="http://schemas.microsoft.com/office/drawing/2014/main" val="1311131050"/>
                  </a:ext>
                </a:extLst>
              </a:tr>
              <a:tr h="753736">
                <a:tc>
                  <a:txBody>
                    <a:bodyPr/>
                    <a:lstStyle/>
                    <a:p>
                      <a:pPr>
                        <a:buNone/>
                      </a:pPr>
                      <a:r>
                        <a:rPr lang="en-IN" sz="1500"/>
                        <a:t>4</a:t>
                      </a:r>
                    </a:p>
                  </a:txBody>
                  <a:tcPr marL="37975" marR="37975" marT="18987" marB="18987" anchor="ctr"/>
                </a:tc>
                <a:tc>
                  <a:txBody>
                    <a:bodyPr/>
                    <a:lstStyle/>
                    <a:p>
                      <a:pPr>
                        <a:buNone/>
                      </a:pPr>
                      <a:r>
                        <a:rPr lang="en-IN" sz="1500" dirty="0"/>
                        <a:t>AI-Based Classification</a:t>
                      </a:r>
                    </a:p>
                  </a:txBody>
                  <a:tcPr marL="37975" marR="37975" marT="18987" marB="18987" anchor="ctr"/>
                </a:tc>
                <a:tc>
                  <a:txBody>
                    <a:bodyPr/>
                    <a:lstStyle/>
                    <a:p>
                      <a:pPr>
                        <a:buNone/>
                      </a:pPr>
                      <a:r>
                        <a:rPr lang="en-IN" sz="1500"/>
                        <a:t>Automatically categorizes complaints and assigns them to relevant departments.</a:t>
                      </a:r>
                    </a:p>
                  </a:txBody>
                  <a:tcPr marL="37975" marR="37975" marT="18987" marB="18987" anchor="ctr"/>
                </a:tc>
                <a:extLst>
                  <a:ext uri="{0D108BD9-81ED-4DB2-BD59-A6C34878D82A}">
                    <a16:rowId xmlns:a16="http://schemas.microsoft.com/office/drawing/2014/main" val="1198834919"/>
                  </a:ext>
                </a:extLst>
              </a:tr>
              <a:tr h="753736">
                <a:tc>
                  <a:txBody>
                    <a:bodyPr/>
                    <a:lstStyle/>
                    <a:p>
                      <a:pPr>
                        <a:buNone/>
                      </a:pPr>
                      <a:r>
                        <a:rPr lang="en-IN" sz="1500"/>
                        <a:t>5</a:t>
                      </a:r>
                    </a:p>
                  </a:txBody>
                  <a:tcPr marL="37975" marR="37975" marT="18987" marB="18987" anchor="ctr"/>
                </a:tc>
                <a:tc>
                  <a:txBody>
                    <a:bodyPr/>
                    <a:lstStyle/>
                    <a:p>
                      <a:pPr>
                        <a:buNone/>
                      </a:pPr>
                      <a:r>
                        <a:rPr lang="en-IN" sz="1500"/>
                        <a:t>Image Processing</a:t>
                      </a:r>
                    </a:p>
                  </a:txBody>
                  <a:tcPr marL="37975" marR="37975" marT="18987" marB="18987" anchor="ctr"/>
                </a:tc>
                <a:tc>
                  <a:txBody>
                    <a:bodyPr/>
                    <a:lstStyle/>
                    <a:p>
                      <a:pPr>
                        <a:buNone/>
                      </a:pPr>
                      <a:r>
                        <a:rPr lang="en-IN" sz="1500" dirty="0" err="1"/>
                        <a:t>Analyzes</a:t>
                      </a:r>
                      <a:r>
                        <a:rPr lang="en-IN" sz="1500" dirty="0"/>
                        <a:t> uploaded images to identify civic problems and estimate their severity.</a:t>
                      </a:r>
                    </a:p>
                  </a:txBody>
                  <a:tcPr marL="37975" marR="37975" marT="18987" marB="18987" anchor="ctr"/>
                </a:tc>
                <a:extLst>
                  <a:ext uri="{0D108BD9-81ED-4DB2-BD59-A6C34878D82A}">
                    <a16:rowId xmlns:a16="http://schemas.microsoft.com/office/drawing/2014/main" val="970657175"/>
                  </a:ext>
                </a:extLst>
              </a:tr>
            </a:tbl>
          </a:graphicData>
        </a:graphic>
      </p:graphicFrame>
    </p:spTree>
    <p:extLst>
      <p:ext uri="{BB962C8B-B14F-4D97-AF65-F5344CB8AC3E}">
        <p14:creationId xmlns:p14="http://schemas.microsoft.com/office/powerpoint/2010/main" val="3899437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0C6C-9F75-BC3F-4EFE-E4377FAE2D9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7DA222-6001-93D4-3C25-D993A6429480}"/>
              </a:ext>
            </a:extLst>
          </p:cNvPr>
          <p:cNvSpPr txBox="1">
            <a:spLocks noGrp="1"/>
          </p:cNvSpPr>
          <p:nvPr>
            <p:ph type="title"/>
          </p:nvPr>
        </p:nvSpPr>
        <p:spPr>
          <a:xfrm>
            <a:off x="66039" y="188849"/>
            <a:ext cx="7432040" cy="589006"/>
          </a:xfrm>
          <a:prstGeom prst="rect">
            <a:avLst/>
          </a:prstGeom>
        </p:spPr>
        <p:txBody>
          <a:bodyPr vert="horz" wrap="square" lIns="0" tIns="126110" rIns="0" bIns="0" rtlCol="0" anchor="t">
            <a:spAutoFit/>
          </a:bodyPr>
          <a:lstStyle/>
          <a:p>
            <a:pPr marL="48260">
              <a:spcBef>
                <a:spcPts val="105"/>
              </a:spcBef>
            </a:pPr>
            <a:r>
              <a:rPr lang="en-US" spc="-10" dirty="0"/>
              <a:t>Methodology </a:t>
            </a:r>
          </a:p>
        </p:txBody>
      </p:sp>
      <p:sp>
        <p:nvSpPr>
          <p:cNvPr id="4" name="object 4">
            <a:extLst>
              <a:ext uri="{FF2B5EF4-FFF2-40B4-BE49-F238E27FC236}">
                <a16:creationId xmlns:a16="http://schemas.microsoft.com/office/drawing/2014/main" id="{9131AC13-BC58-4047-E713-BD65A7331226}"/>
              </a:ext>
            </a:extLst>
          </p:cNvPr>
          <p:cNvSpPr txBox="1">
            <a:spLocks noGrp="1"/>
          </p:cNvSpPr>
          <p:nvPr>
            <p:ph type="sldNum" sz="quarter" idx="7"/>
          </p:nvPr>
        </p:nvSpPr>
        <p:spPr>
          <a:xfrm>
            <a:off x="8701658" y="4944576"/>
            <a:ext cx="349713" cy="179536"/>
          </a:xfrm>
          <a:prstGeom prst="rect">
            <a:avLst/>
          </a:prstGeom>
        </p:spPr>
        <p:txBody>
          <a:bodyPr vert="horz" wrap="square" lIns="0" tIns="0" rIns="0" bIns="0" rtlCol="0">
            <a:spAutoFit/>
          </a:bodyPr>
          <a:lstStyle/>
          <a:p>
            <a:pPr marL="111125">
              <a:lnSpc>
                <a:spcPts val="1425"/>
              </a:lnSpc>
            </a:pPr>
            <a:fld id="{81D60167-4931-47E6-BA6A-407CBD079E47}" type="slidenum">
              <a:rPr spc="-50" dirty="0"/>
              <a:t>11</a:t>
            </a:fld>
            <a:endParaRPr spc="-50"/>
          </a:p>
        </p:txBody>
      </p:sp>
      <p:sp>
        <p:nvSpPr>
          <p:cNvPr id="5" name="TextBox 4">
            <a:extLst>
              <a:ext uri="{FF2B5EF4-FFF2-40B4-BE49-F238E27FC236}">
                <a16:creationId xmlns:a16="http://schemas.microsoft.com/office/drawing/2014/main" id="{3A75E900-0901-256B-3917-78664B89E41A}"/>
              </a:ext>
            </a:extLst>
          </p:cNvPr>
          <p:cNvSpPr txBox="1"/>
          <p:nvPr/>
        </p:nvSpPr>
        <p:spPr>
          <a:xfrm>
            <a:off x="207264" y="1262069"/>
            <a:ext cx="8384666" cy="3293209"/>
          </a:xfrm>
          <a:prstGeom prst="rect">
            <a:avLst/>
          </a:prstGeom>
          <a:noFill/>
        </p:spPr>
        <p:txBody>
          <a:bodyPr wrap="square">
            <a:spAutoFit/>
          </a:bodyPr>
          <a:lstStyle/>
          <a:p>
            <a:pPr marL="342900" lvl="0" indent="-342900">
              <a:buFont typeface="+mj-lt"/>
              <a:buAutoNum type="arabicPeriod"/>
            </a:pPr>
            <a:r>
              <a:rPr lang="en-IN" sz="1600" b="1" dirty="0"/>
              <a:t>User Registration</a:t>
            </a:r>
            <a:r>
              <a:rPr lang="en-IN" sz="1600" dirty="0"/>
              <a:t>: Citizens and departmental employees log in securely.</a:t>
            </a:r>
          </a:p>
          <a:p>
            <a:pPr marL="342900" lvl="0" indent="-342900">
              <a:buFont typeface="+mj-lt"/>
              <a:buAutoNum type="arabicPeriod"/>
            </a:pPr>
            <a:r>
              <a:rPr lang="en-IN" sz="1600" b="1" dirty="0"/>
              <a:t>Complaint Submission</a:t>
            </a:r>
            <a:r>
              <a:rPr lang="en-IN" sz="1600" dirty="0"/>
              <a:t>: Citizens upload images, descriptions, and location details of civic issues.</a:t>
            </a:r>
          </a:p>
          <a:p>
            <a:pPr marL="342900" lvl="0" indent="-342900">
              <a:buFont typeface="+mj-lt"/>
              <a:buAutoNum type="arabicPeriod"/>
            </a:pPr>
            <a:r>
              <a:rPr lang="en-IN" sz="1600" b="1" dirty="0"/>
              <a:t>Complaint Classification</a:t>
            </a:r>
            <a:r>
              <a:rPr lang="en-IN" sz="1600" dirty="0"/>
              <a:t>: The system categorizes complaints based on issue type.</a:t>
            </a:r>
          </a:p>
          <a:p>
            <a:pPr marL="342900" lvl="0" indent="-342900">
              <a:buFont typeface="+mj-lt"/>
              <a:buAutoNum type="arabicPeriod"/>
            </a:pPr>
            <a:r>
              <a:rPr lang="en-IN" sz="1600" b="1" dirty="0"/>
              <a:t>AI-Based Analysis</a:t>
            </a:r>
            <a:r>
              <a:rPr lang="en-IN" sz="1600" dirty="0"/>
              <a:t>: AI identifies duplicate complaints and assesses issue severity.</a:t>
            </a:r>
          </a:p>
          <a:p>
            <a:pPr marL="342900" lvl="0" indent="-342900">
              <a:buFont typeface="+mj-lt"/>
              <a:buAutoNum type="arabicPeriod"/>
            </a:pPr>
            <a:r>
              <a:rPr lang="en-IN" sz="1600" b="1" dirty="0"/>
              <a:t>Department Assignment</a:t>
            </a:r>
            <a:r>
              <a:rPr lang="en-IN" sz="1600" dirty="0"/>
              <a:t>: Complaints are assigned to the appropriate department.</a:t>
            </a:r>
          </a:p>
          <a:p>
            <a:pPr marL="342900" lvl="0" indent="-342900">
              <a:buFont typeface="+mj-lt"/>
              <a:buAutoNum type="arabicPeriod"/>
            </a:pPr>
            <a:r>
              <a:rPr lang="en-IN" sz="1600" b="1" dirty="0"/>
              <a:t>Status Tracking</a:t>
            </a:r>
            <a:r>
              <a:rPr lang="en-IN" sz="1600" dirty="0"/>
              <a:t>: Employees update complaints as Pending, In Progress, or Completed.</a:t>
            </a:r>
          </a:p>
          <a:p>
            <a:pPr marL="342900" lvl="0" indent="-342900">
              <a:buFont typeface="+mj-lt"/>
              <a:buAutoNum type="arabicPeriod"/>
            </a:pPr>
            <a:r>
              <a:rPr lang="en-IN" sz="1600" b="1" dirty="0"/>
              <a:t>Resolution Verification</a:t>
            </a:r>
            <a:r>
              <a:rPr lang="en-IN" sz="1600" dirty="0"/>
              <a:t>: Completed work is verified to improve transparency and accountability.</a:t>
            </a:r>
          </a:p>
          <a:p>
            <a:pPr marL="342900" lvl="0" indent="-342900">
              <a:buFont typeface="+mj-lt"/>
              <a:buAutoNum type="arabicPeriod"/>
            </a:pPr>
            <a:r>
              <a:rPr lang="en-IN" sz="1600" b="1" dirty="0"/>
              <a:t>Monitoring and Reporting</a:t>
            </a:r>
            <a:r>
              <a:rPr lang="en-IN" sz="1600" dirty="0"/>
              <a:t>: Authorities </a:t>
            </a:r>
            <a:r>
              <a:rPr lang="en-IN" sz="1600" dirty="0" err="1"/>
              <a:t>analyze</a:t>
            </a:r>
            <a:r>
              <a:rPr lang="en-IN" sz="1600" dirty="0"/>
              <a:t> complaint data to identify recurring issues and improve public services.</a:t>
            </a:r>
          </a:p>
          <a:p>
            <a:pPr marL="457200" indent="-457200">
              <a:buFont typeface="+mj-lt"/>
              <a:buAutoNum type="arabicPeriod"/>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233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0C6C-9F75-BC3F-4EFE-E4377FAE2D9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7DA222-6001-93D4-3C25-D993A6429480}"/>
              </a:ext>
            </a:extLst>
          </p:cNvPr>
          <p:cNvSpPr txBox="1">
            <a:spLocks noGrp="1"/>
          </p:cNvSpPr>
          <p:nvPr>
            <p:ph type="title"/>
          </p:nvPr>
        </p:nvSpPr>
        <p:spPr>
          <a:xfrm>
            <a:off x="66039" y="188849"/>
            <a:ext cx="7432040" cy="589006"/>
          </a:xfrm>
          <a:prstGeom prst="rect">
            <a:avLst/>
          </a:prstGeom>
        </p:spPr>
        <p:txBody>
          <a:bodyPr vert="horz" wrap="square" lIns="0" tIns="126110" rIns="0" bIns="0" rtlCol="0" anchor="t">
            <a:spAutoFit/>
          </a:bodyPr>
          <a:lstStyle/>
          <a:p>
            <a:pPr marL="48260">
              <a:spcBef>
                <a:spcPts val="105"/>
              </a:spcBef>
            </a:pPr>
            <a:r>
              <a:rPr lang="en-US" spc="-10" dirty="0"/>
              <a:t>Methodology (Contd…)</a:t>
            </a:r>
          </a:p>
        </p:txBody>
      </p:sp>
      <p:sp>
        <p:nvSpPr>
          <p:cNvPr id="4" name="object 4">
            <a:extLst>
              <a:ext uri="{FF2B5EF4-FFF2-40B4-BE49-F238E27FC236}">
                <a16:creationId xmlns:a16="http://schemas.microsoft.com/office/drawing/2014/main" id="{9131AC13-BC58-4047-E713-BD65A7331226}"/>
              </a:ext>
            </a:extLst>
          </p:cNvPr>
          <p:cNvSpPr txBox="1">
            <a:spLocks noGrp="1"/>
          </p:cNvSpPr>
          <p:nvPr>
            <p:ph type="sldNum" sz="quarter" idx="7"/>
          </p:nvPr>
        </p:nvSpPr>
        <p:spPr>
          <a:xfrm>
            <a:off x="8701658" y="4944576"/>
            <a:ext cx="349713" cy="179536"/>
          </a:xfrm>
          <a:prstGeom prst="rect">
            <a:avLst/>
          </a:prstGeom>
        </p:spPr>
        <p:txBody>
          <a:bodyPr vert="horz" wrap="square" lIns="0" tIns="0" rIns="0" bIns="0" rtlCol="0">
            <a:spAutoFit/>
          </a:bodyPr>
          <a:lstStyle/>
          <a:p>
            <a:pPr marL="111125">
              <a:lnSpc>
                <a:spcPts val="1425"/>
              </a:lnSpc>
            </a:pPr>
            <a:fld id="{81D60167-4931-47E6-BA6A-407CBD079E47}" type="slidenum">
              <a:rPr spc="-50" dirty="0"/>
              <a:t>12</a:t>
            </a:fld>
            <a:endParaRPr spc="-50"/>
          </a:p>
        </p:txBody>
      </p:sp>
      <p:pic>
        <p:nvPicPr>
          <p:cNvPr id="10" name="Picture 9">
            <a:extLst>
              <a:ext uri="{FF2B5EF4-FFF2-40B4-BE49-F238E27FC236}">
                <a16:creationId xmlns:a16="http://schemas.microsoft.com/office/drawing/2014/main" id="{7EA4A298-1FF4-7606-CEF0-A9E2F7F199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8818"/>
            <a:ext cx="9144000" cy="3741782"/>
          </a:xfrm>
          <a:prstGeom prst="rect">
            <a:avLst/>
          </a:prstGeom>
        </p:spPr>
      </p:pic>
    </p:spTree>
    <p:extLst>
      <p:ext uri="{BB962C8B-B14F-4D97-AF65-F5344CB8AC3E}">
        <p14:creationId xmlns:p14="http://schemas.microsoft.com/office/powerpoint/2010/main" val="1301082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0C6C-9F75-BC3F-4EFE-E4377FAE2D9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31AC13-BC58-4047-E713-BD65A7331226}"/>
              </a:ext>
            </a:extLst>
          </p:cNvPr>
          <p:cNvSpPr txBox="1">
            <a:spLocks noGrp="1"/>
          </p:cNvSpPr>
          <p:nvPr>
            <p:ph type="sldNum" sz="quarter" idx="7"/>
          </p:nvPr>
        </p:nvSpPr>
        <p:spPr>
          <a:xfrm>
            <a:off x="8701658" y="4944576"/>
            <a:ext cx="349713" cy="179536"/>
          </a:xfrm>
          <a:prstGeom prst="rect">
            <a:avLst/>
          </a:prstGeom>
        </p:spPr>
        <p:txBody>
          <a:bodyPr vert="horz" wrap="square" lIns="0" tIns="0" rIns="0" bIns="0" rtlCol="0">
            <a:spAutoFit/>
          </a:bodyPr>
          <a:lstStyle/>
          <a:p>
            <a:pPr marL="111125">
              <a:lnSpc>
                <a:spcPts val="1425"/>
              </a:lnSpc>
            </a:pPr>
            <a:fld id="{81D60167-4931-47E6-BA6A-407CBD079E47}" type="slidenum">
              <a:rPr spc="-50" dirty="0"/>
              <a:t>13</a:t>
            </a:fld>
            <a:endParaRPr spc="-50"/>
          </a:p>
        </p:txBody>
      </p:sp>
      <p:sp>
        <p:nvSpPr>
          <p:cNvPr id="11" name="object 2">
            <a:extLst>
              <a:ext uri="{FF2B5EF4-FFF2-40B4-BE49-F238E27FC236}">
                <a16:creationId xmlns:a16="http://schemas.microsoft.com/office/drawing/2014/main" id="{F8106756-497E-44F7-961A-6C37E9238509}"/>
              </a:ext>
            </a:extLst>
          </p:cNvPr>
          <p:cNvSpPr txBox="1">
            <a:spLocks noGrp="1"/>
          </p:cNvSpPr>
          <p:nvPr>
            <p:ph type="title"/>
          </p:nvPr>
        </p:nvSpPr>
        <p:spPr>
          <a:xfrm>
            <a:off x="66039" y="188849"/>
            <a:ext cx="7432040" cy="609525"/>
          </a:xfrm>
          <a:prstGeom prst="rect">
            <a:avLst/>
          </a:prstGeom>
        </p:spPr>
        <p:txBody>
          <a:bodyPr vert="horz" wrap="square" lIns="0" tIns="146430" rIns="0" bIns="0" rtlCol="0" anchor="t">
            <a:spAutoFit/>
          </a:bodyPr>
          <a:lstStyle/>
          <a:p>
            <a:pPr marL="33020">
              <a:spcBef>
                <a:spcPts val="105"/>
              </a:spcBef>
            </a:pPr>
            <a:r>
              <a:rPr lang="en-US" spc="-10" dirty="0"/>
              <a:t>Results and Discussions</a:t>
            </a:r>
            <a:endParaRPr lang="en-US" spc="-150" dirty="0"/>
          </a:p>
        </p:txBody>
      </p:sp>
      <p:sp>
        <p:nvSpPr>
          <p:cNvPr id="3" name="TextBox 2">
            <a:extLst>
              <a:ext uri="{FF2B5EF4-FFF2-40B4-BE49-F238E27FC236}">
                <a16:creationId xmlns:a16="http://schemas.microsoft.com/office/drawing/2014/main" id="{B64D0A65-C495-6860-A028-0283F8792491}"/>
              </a:ext>
            </a:extLst>
          </p:cNvPr>
          <p:cNvSpPr txBox="1"/>
          <p:nvPr/>
        </p:nvSpPr>
        <p:spPr>
          <a:xfrm>
            <a:off x="46314" y="1198430"/>
            <a:ext cx="9051371" cy="3493264"/>
          </a:xfrm>
          <a:prstGeom prst="rect">
            <a:avLst/>
          </a:prstGeom>
          <a:noFill/>
        </p:spPr>
        <p:txBody>
          <a:bodyPr wrap="square">
            <a:spAutoFit/>
          </a:bodyPr>
          <a:lstStyle/>
          <a:p>
            <a:pPr marL="285750" lvl="0" indent="-285750">
              <a:buFont typeface="Arial" panose="020B0604020202020204" pitchFamily="34" charset="0"/>
              <a:buChar char="•"/>
            </a:pPr>
            <a:r>
              <a:rPr lang="en-IN" sz="1700" dirty="0"/>
              <a:t>Efficient Complaint Reporting: Citizens can submit civic complaints with images, descriptions, and GPS locations.</a:t>
            </a:r>
          </a:p>
          <a:p>
            <a:pPr marL="285750" lvl="0" indent="-285750">
              <a:buFont typeface="Arial" panose="020B0604020202020204" pitchFamily="34" charset="0"/>
              <a:buChar char="•"/>
            </a:pPr>
            <a:r>
              <a:rPr lang="en-IN" sz="1700" dirty="0"/>
              <a:t>AI-Based Classification: Complaints are categorized according to the type of civic issue.</a:t>
            </a:r>
          </a:p>
          <a:p>
            <a:pPr marL="285750" lvl="0" indent="-285750">
              <a:buFont typeface="Arial" panose="020B0604020202020204" pitchFamily="34" charset="0"/>
              <a:buChar char="•"/>
            </a:pPr>
            <a:r>
              <a:rPr lang="en-IN" sz="1700" dirty="0"/>
              <a:t>Duplicate Detection: Similar complaints can be identified to reduce repeated entries.</a:t>
            </a:r>
          </a:p>
          <a:p>
            <a:pPr marL="285750" lvl="0" indent="-285750">
              <a:buFont typeface="Arial" panose="020B0604020202020204" pitchFamily="34" charset="0"/>
              <a:buChar char="•"/>
            </a:pPr>
            <a:r>
              <a:rPr lang="en-IN" sz="1700" dirty="0"/>
              <a:t>Severity Assessment: Critical issues can be prioritized based on their severity.</a:t>
            </a:r>
          </a:p>
          <a:p>
            <a:pPr marL="285750" lvl="0" indent="-285750">
              <a:buFont typeface="Arial" panose="020B0604020202020204" pitchFamily="34" charset="0"/>
              <a:buChar char="•"/>
            </a:pPr>
            <a:r>
              <a:rPr lang="en-IN" sz="1700" dirty="0"/>
              <a:t>Department-Wise Assignment: Complaints are directed to the appropriate departmental employees.</a:t>
            </a:r>
          </a:p>
          <a:p>
            <a:pPr marL="285750" lvl="0" indent="-285750">
              <a:buFont typeface="Arial" panose="020B0604020202020204" pitchFamily="34" charset="0"/>
              <a:buChar char="•"/>
            </a:pPr>
            <a:r>
              <a:rPr lang="en-IN" sz="1700" dirty="0"/>
              <a:t>Real-Time Tracking: Citizens can monitor complaint status from Pending to In Progress and Completed.</a:t>
            </a:r>
          </a:p>
          <a:p>
            <a:pPr marL="285750" lvl="0" indent="-285750">
              <a:buFont typeface="Arial" panose="020B0604020202020204" pitchFamily="34" charset="0"/>
              <a:buChar char="•"/>
            </a:pPr>
            <a:r>
              <a:rPr lang="en-IN" sz="1700" dirty="0"/>
              <a:t>Resolution Verification: Completed complaints can be verified to improve accountability.</a:t>
            </a:r>
          </a:p>
          <a:p>
            <a:pPr marL="285750" lvl="0" indent="-285750">
              <a:buFont typeface="Arial" panose="020B0604020202020204" pitchFamily="34" charset="0"/>
              <a:buChar char="•"/>
            </a:pPr>
            <a:r>
              <a:rPr lang="en-IN" sz="1700" dirty="0"/>
              <a:t>Improved Governance: Reports help authorities identify recurring problems and improve public service delivery.</a:t>
            </a:r>
          </a:p>
          <a:p>
            <a:pPr marL="342900" indent="-342900">
              <a:buFont typeface="Arial" panose="020B0604020202020204" pitchFamily="34" charset="0"/>
              <a:buChar char="•"/>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769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E7AD1-CF08-3FF6-C827-8CDF469861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59C3BD-2745-AAA7-D8F0-AD00657B9EBC}"/>
              </a:ext>
            </a:extLst>
          </p:cNvPr>
          <p:cNvSpPr txBox="1">
            <a:spLocks noGrp="1"/>
          </p:cNvSpPr>
          <p:nvPr>
            <p:ph type="sldNum" sz="quarter" idx="7"/>
          </p:nvPr>
        </p:nvSpPr>
        <p:spPr>
          <a:xfrm>
            <a:off x="8701658" y="4944576"/>
            <a:ext cx="349713" cy="179536"/>
          </a:xfrm>
          <a:prstGeom prst="rect">
            <a:avLst/>
          </a:prstGeom>
        </p:spPr>
        <p:txBody>
          <a:bodyPr vert="horz" wrap="square" lIns="0" tIns="0" rIns="0" bIns="0" rtlCol="0">
            <a:spAutoFit/>
          </a:bodyPr>
          <a:lstStyle/>
          <a:p>
            <a:pPr marL="111125">
              <a:lnSpc>
                <a:spcPts val="1425"/>
              </a:lnSpc>
            </a:pPr>
            <a:fld id="{81D60167-4931-47E6-BA6A-407CBD079E47}" type="slidenum">
              <a:rPr spc="-50" dirty="0"/>
              <a:t>14</a:t>
            </a:fld>
            <a:endParaRPr spc="-50"/>
          </a:p>
        </p:txBody>
      </p:sp>
      <p:sp>
        <p:nvSpPr>
          <p:cNvPr id="7" name="object 3">
            <a:extLst>
              <a:ext uri="{FF2B5EF4-FFF2-40B4-BE49-F238E27FC236}">
                <a16:creationId xmlns:a16="http://schemas.microsoft.com/office/drawing/2014/main" id="{F03C0DD0-22AD-4BBD-88F5-47FC5E7572B0}"/>
              </a:ext>
            </a:extLst>
          </p:cNvPr>
          <p:cNvSpPr txBox="1">
            <a:spLocks noGrp="1"/>
          </p:cNvSpPr>
          <p:nvPr>
            <p:ph type="title"/>
          </p:nvPr>
        </p:nvSpPr>
        <p:spPr>
          <a:xfrm>
            <a:off x="66039" y="188849"/>
            <a:ext cx="7432040" cy="723264"/>
          </a:xfrm>
          <a:prstGeom prst="rect">
            <a:avLst/>
          </a:prstGeom>
        </p:spPr>
        <p:txBody>
          <a:bodyPr vert="horz" wrap="square" lIns="0" tIns="146430" rIns="0" bIns="0" rtlCol="0">
            <a:spAutoFit/>
          </a:bodyPr>
          <a:lstStyle/>
          <a:p>
            <a:pPr marL="33020">
              <a:lnSpc>
                <a:spcPct val="100000"/>
              </a:lnSpc>
              <a:spcBef>
                <a:spcPts val="105"/>
              </a:spcBef>
            </a:pPr>
            <a:r>
              <a:rPr spc="-10"/>
              <a:t>Conclusion</a:t>
            </a:r>
          </a:p>
        </p:txBody>
      </p:sp>
      <p:sp>
        <p:nvSpPr>
          <p:cNvPr id="11" name="object 2">
            <a:extLst>
              <a:ext uri="{FF2B5EF4-FFF2-40B4-BE49-F238E27FC236}">
                <a16:creationId xmlns:a16="http://schemas.microsoft.com/office/drawing/2014/main" id="{6A09D5A2-15C4-43A4-9D0F-CAA0C4C7F586}"/>
              </a:ext>
            </a:extLst>
          </p:cNvPr>
          <p:cNvSpPr txBox="1">
            <a:spLocks noGrp="1"/>
          </p:cNvSpPr>
          <p:nvPr>
            <p:ph type="body" idx="1"/>
          </p:nvPr>
        </p:nvSpPr>
        <p:spPr>
          <a:xfrm>
            <a:off x="86360" y="1131887"/>
            <a:ext cx="8704072" cy="3088025"/>
          </a:xfrm>
          <a:prstGeom prst="rect">
            <a:avLst/>
          </a:prstGeom>
        </p:spPr>
        <p:txBody>
          <a:bodyPr vert="horz" wrap="square" lIns="0" tIns="10160" rIns="0" bIns="0" rtlCol="0" anchor="t">
            <a:spAutoFit/>
          </a:bodyPr>
          <a:lstStyle/>
          <a:p>
            <a:pPr algn="just">
              <a:buClr>
                <a:srgbClr val="005093"/>
              </a:buClr>
              <a:tabLst>
                <a:tab pos="298450" algn="l"/>
              </a:tabLst>
            </a:pPr>
            <a:r>
              <a:rPr lang="en-IN" sz="2000" dirty="0"/>
              <a:t>LokSamadhan360 is an AI-powered civic complaint management platform designed to improve transparency, accountability, and efficiency in public services. It simplifies complaint reporting, enables intelligent classification, supports department-wise assignment, and provides real-time status tracking. By integrating AI analysis and resolution verification, the platform aims to reduce delays and strengthen communication between citizens and government authorities. Overall, LokSamadhan360 promotes smarter governance and a more responsive, citizen-centric approach to resolving civic issues.</a:t>
            </a:r>
          </a:p>
          <a:p>
            <a:pPr algn="just">
              <a:buClr>
                <a:srgbClr val="005093"/>
              </a:buClr>
              <a:tabLst>
                <a:tab pos="298450" algn="l"/>
              </a:tabLst>
            </a:pPr>
            <a:endParaRPr lang="en-US" sz="2000" dirty="0">
              <a:solidFill>
                <a:schemeClr val="tx1"/>
              </a:solidFill>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1076418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E7AD1-CF08-3FF6-C827-8CDF469861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59C3BD-2745-AAA7-D8F0-AD00657B9EBC}"/>
              </a:ext>
            </a:extLst>
          </p:cNvPr>
          <p:cNvSpPr txBox="1">
            <a:spLocks noGrp="1"/>
          </p:cNvSpPr>
          <p:nvPr>
            <p:ph type="sldNum" sz="quarter" idx="7"/>
          </p:nvPr>
        </p:nvSpPr>
        <p:spPr>
          <a:xfrm>
            <a:off x="8701658" y="4944576"/>
            <a:ext cx="349713" cy="179536"/>
          </a:xfrm>
          <a:prstGeom prst="rect">
            <a:avLst/>
          </a:prstGeom>
        </p:spPr>
        <p:txBody>
          <a:bodyPr vert="horz" wrap="square" lIns="0" tIns="0" rIns="0" bIns="0" rtlCol="0">
            <a:spAutoFit/>
          </a:bodyPr>
          <a:lstStyle/>
          <a:p>
            <a:pPr marL="111125">
              <a:lnSpc>
                <a:spcPts val="1425"/>
              </a:lnSpc>
            </a:pPr>
            <a:fld id="{81D60167-4931-47E6-BA6A-407CBD079E47}" type="slidenum">
              <a:rPr spc="-50" dirty="0"/>
              <a:t>15</a:t>
            </a:fld>
            <a:r>
              <a:t>Real-World Testing – Evaluate the model using images collected from farms and different environmental conditions.</a:t>
            </a:r>
            <a:endParaRPr spc="-50"/>
          </a:p>
          <a:p>
            <a:r>
              <a:t>More Crop Types – Extend the dataset to include additional crops and disease categories.</a:t>
            </a:r>
          </a:p>
          <a:p>
            <a:r>
              <a:t>Mobile Application – Develop a mobile app for convenient field use.</a:t>
            </a:r>
          </a:p>
          <a:p>
            <a:r>
              <a:t>Improved Accuracy – Explore transfer learning and data augmentation to improve generalization.</a:t>
            </a:r>
          </a:p>
          <a:p>
            <a:r>
              <a:t>Decision Support – Add verified information about prevention and management for each detected disease.</a:t>
            </a:r>
          </a:p>
        </p:txBody>
      </p:sp>
      <p:sp>
        <p:nvSpPr>
          <p:cNvPr id="9" name="object 2">
            <a:extLst>
              <a:ext uri="{FF2B5EF4-FFF2-40B4-BE49-F238E27FC236}">
                <a16:creationId xmlns:a16="http://schemas.microsoft.com/office/drawing/2014/main" id="{9B268117-5112-40D2-AA67-92E594AC33AA}"/>
              </a:ext>
            </a:extLst>
          </p:cNvPr>
          <p:cNvSpPr txBox="1">
            <a:spLocks noGrp="1"/>
          </p:cNvSpPr>
          <p:nvPr>
            <p:ph type="body" idx="1"/>
          </p:nvPr>
        </p:nvSpPr>
        <p:spPr>
          <a:xfrm>
            <a:off x="86360" y="1131887"/>
            <a:ext cx="8704072" cy="2226250"/>
          </a:xfrm>
          <a:prstGeom prst="rect">
            <a:avLst/>
          </a:prstGeom>
        </p:spPr>
        <p:txBody>
          <a:bodyPr vert="horz" wrap="square" lIns="0" tIns="10160" rIns="0" bIns="0" rtlCol="0" anchor="t">
            <a:spAutoFit/>
          </a:bodyPr>
          <a:lstStyle/>
          <a:p>
            <a:pPr marL="285750" lvl="0" indent="-285750">
              <a:buFont typeface="Arial" panose="020B0604020202020204" pitchFamily="34" charset="0"/>
              <a:buChar char="•"/>
            </a:pPr>
            <a:r>
              <a:rPr lang="en-IN" b="1" dirty="0"/>
              <a:t>Advanced AI Integration: </a:t>
            </a:r>
            <a:r>
              <a:rPr lang="en-IN" dirty="0"/>
              <a:t>Use advanced AI to automatically identify civic issues from images and predict potential problems.</a:t>
            </a:r>
          </a:p>
          <a:p>
            <a:pPr marL="285750" lvl="0" indent="-285750">
              <a:buFont typeface="Arial" panose="020B0604020202020204" pitchFamily="34" charset="0"/>
              <a:buChar char="•"/>
            </a:pPr>
            <a:r>
              <a:rPr lang="en-IN" b="1" dirty="0"/>
              <a:t>Multilingual Support: </a:t>
            </a:r>
            <a:r>
              <a:rPr lang="en-IN" dirty="0"/>
              <a:t>Enable citizens to report complaints in regional languages using voice and text.</a:t>
            </a:r>
          </a:p>
          <a:p>
            <a:pPr marL="285750" lvl="0" indent="-285750">
              <a:buFont typeface="Arial" panose="020B0604020202020204" pitchFamily="34" charset="0"/>
              <a:buChar char="•"/>
            </a:pPr>
            <a:r>
              <a:rPr lang="en-IN" b="1" dirty="0"/>
              <a:t>IoT Integration: </a:t>
            </a:r>
            <a:r>
              <a:rPr lang="en-IN" dirty="0"/>
              <a:t>Connect smart sensors to detect water leakage, waste overflow, and infrastructure problems automatically.</a:t>
            </a:r>
          </a:p>
          <a:p>
            <a:pPr marL="285750" lvl="0" indent="-285750">
              <a:buFont typeface="Arial" panose="020B0604020202020204" pitchFamily="34" charset="0"/>
              <a:buChar char="•"/>
            </a:pPr>
            <a:r>
              <a:rPr lang="en-IN" b="1" dirty="0"/>
              <a:t>Predictive Analytics: </a:t>
            </a:r>
            <a:r>
              <a:rPr lang="en-IN" dirty="0" err="1"/>
              <a:t>Analyze</a:t>
            </a:r>
            <a:r>
              <a:rPr lang="en-IN" dirty="0"/>
              <a:t> historical complaint data to identify hotspots and help authorities plan preventive actions.</a:t>
            </a:r>
          </a:p>
        </p:txBody>
      </p:sp>
      <p:sp>
        <p:nvSpPr>
          <p:cNvPr id="8" name="object 3">
            <a:extLst>
              <a:ext uri="{FF2B5EF4-FFF2-40B4-BE49-F238E27FC236}">
                <a16:creationId xmlns:a16="http://schemas.microsoft.com/office/drawing/2014/main" id="{1618AEF1-171E-49AD-856B-4AD8573924D5}"/>
              </a:ext>
            </a:extLst>
          </p:cNvPr>
          <p:cNvSpPr txBox="1">
            <a:spLocks noGrp="1"/>
          </p:cNvSpPr>
          <p:nvPr>
            <p:ph type="title"/>
          </p:nvPr>
        </p:nvSpPr>
        <p:spPr>
          <a:xfrm>
            <a:off x="66039" y="188849"/>
            <a:ext cx="7432040" cy="609525"/>
          </a:xfrm>
          <a:prstGeom prst="rect">
            <a:avLst/>
          </a:prstGeom>
        </p:spPr>
        <p:txBody>
          <a:bodyPr vert="horz" wrap="square" lIns="0" tIns="146430" rIns="0" bIns="0" rtlCol="0" anchor="t">
            <a:spAutoFit/>
          </a:bodyPr>
          <a:lstStyle/>
          <a:p>
            <a:pPr marL="33020">
              <a:spcBef>
                <a:spcPts val="105"/>
              </a:spcBef>
            </a:pPr>
            <a:r>
              <a:rPr lang="en-US" spc="-10"/>
              <a:t>Future Scope </a:t>
            </a:r>
            <a:endParaRPr spc="-10"/>
          </a:p>
        </p:txBody>
      </p:sp>
    </p:spTree>
    <p:extLst>
      <p:ext uri="{BB962C8B-B14F-4D97-AF65-F5344CB8AC3E}">
        <p14:creationId xmlns:p14="http://schemas.microsoft.com/office/powerpoint/2010/main" val="4018343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4889" y="2351404"/>
            <a:ext cx="2194560" cy="541020"/>
          </a:xfrm>
          <a:prstGeom prst="rect">
            <a:avLst/>
          </a:prstGeom>
        </p:spPr>
        <p:txBody>
          <a:bodyPr vert="horz" wrap="square" lIns="0" tIns="16510" rIns="0" bIns="0" rtlCol="0">
            <a:spAutoFit/>
          </a:bodyPr>
          <a:lstStyle/>
          <a:p>
            <a:pPr marL="12700">
              <a:lnSpc>
                <a:spcPct val="100000"/>
              </a:lnSpc>
              <a:spcBef>
                <a:spcPts val="130"/>
              </a:spcBef>
            </a:pPr>
            <a:r>
              <a:rPr sz="3350" b="1">
                <a:solidFill>
                  <a:srgbClr val="FFFFFF"/>
                </a:solidFill>
                <a:latin typeface="Arial"/>
                <a:cs typeface="Arial"/>
              </a:rPr>
              <a:t>Thank</a:t>
            </a:r>
            <a:r>
              <a:rPr sz="3350" b="1" spc="-15">
                <a:solidFill>
                  <a:srgbClr val="FFFFFF"/>
                </a:solidFill>
                <a:latin typeface="Arial"/>
                <a:cs typeface="Arial"/>
              </a:rPr>
              <a:t> </a:t>
            </a:r>
            <a:r>
              <a:rPr sz="3350" b="1" spc="-25">
                <a:solidFill>
                  <a:srgbClr val="FFFFFF"/>
                </a:solidFill>
                <a:latin typeface="Arial"/>
                <a:cs typeface="Arial"/>
              </a:rPr>
              <a:t>You</a:t>
            </a:r>
            <a:endParaRPr sz="3350">
              <a:latin typeface="Arial"/>
              <a:cs typeface="Arial"/>
            </a:endParaRPr>
          </a:p>
        </p:txBody>
      </p:sp>
      <p:sp>
        <p:nvSpPr>
          <p:cNvPr id="3" name="object 3"/>
          <p:cNvSpPr txBox="1"/>
          <p:nvPr/>
        </p:nvSpPr>
        <p:spPr>
          <a:xfrm>
            <a:off x="8726805" y="4900473"/>
            <a:ext cx="196850" cy="179536"/>
          </a:xfrm>
          <a:prstGeom prst="rect">
            <a:avLst/>
          </a:prstGeom>
        </p:spPr>
        <p:txBody>
          <a:bodyPr vert="horz" wrap="square" lIns="0" tIns="0" rIns="0" bIns="0" rtlCol="0" anchor="t">
            <a:spAutoFit/>
          </a:bodyPr>
          <a:lstStyle/>
          <a:p>
            <a:pPr marL="12700">
              <a:lnSpc>
                <a:spcPts val="1430"/>
              </a:lnSpc>
            </a:pPr>
            <a:r>
              <a:rPr lang="en-US" sz="1200" spc="-25" dirty="0">
                <a:solidFill>
                  <a:srgbClr val="FFFFFF"/>
                </a:solidFill>
                <a:latin typeface="Arial MT"/>
                <a:cs typeface="Arial MT"/>
              </a:rPr>
              <a:t>20</a:t>
            </a:r>
            <a:endParaRPr sz="1200" dirty="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358</TotalTime>
  <Words>1278</Words>
  <Application>Microsoft Office PowerPoint</Application>
  <PresentationFormat>On-screen Show (16:9)</PresentationFormat>
  <Paragraphs>137</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MT</vt:lpstr>
      <vt:lpstr>Calibri</vt:lpstr>
      <vt:lpstr>Times New Roman</vt:lpstr>
      <vt:lpstr>Wingdings</vt:lpstr>
      <vt:lpstr>Office Theme</vt:lpstr>
      <vt:lpstr>Course Name: Engineering Design Project  Course Code:  (ACSD29)</vt:lpstr>
      <vt:lpstr>Contents of the Presentation</vt:lpstr>
      <vt:lpstr>Abstract</vt:lpstr>
      <vt:lpstr>Problem Statement</vt:lpstr>
      <vt:lpstr>Introduction</vt:lpstr>
      <vt:lpstr>Requirements</vt:lpstr>
      <vt:lpstr>Prerequisites</vt:lpstr>
      <vt:lpstr>Technologies Used</vt:lpstr>
      <vt:lpstr>Algorithms Used</vt:lpstr>
      <vt:lpstr>Literature Review</vt:lpstr>
      <vt:lpstr>Methodology </vt:lpstr>
      <vt:lpstr>Methodology (Contd…)</vt:lpstr>
      <vt:lpstr>Results and Discussions</vt:lpstr>
      <vt:lpstr>Conclusion</vt:lpstr>
      <vt:lpstr>Future Scope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IV SEMESTER END EXAMINATIONS (REGULAR) – BT23 Regulations DevOps Engineering (ACSD18)</dc:title>
  <dc:creator>MADKI SAI CHARAN</dc:creator>
  <cp:lastModifiedBy>lok20060212@outlook.com</cp:lastModifiedBy>
  <cp:revision>28</cp:revision>
  <dcterms:created xsi:type="dcterms:W3CDTF">2024-12-22T07:42:58Z</dcterms:created>
  <dcterms:modified xsi:type="dcterms:W3CDTF">2026-10-27T18:35:04Z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2024-12-21T00:00:00Z</vt:filetime>
  </property>
  <property fmtid="{D5CDD505-2E9C-101B-9397-08002B2CF9AE}" pid="3" name="LastSaved">
    <vt:filetime>2024-12-22T00:00:00Z</vt:filetime>
  </property>
</Properties>
</file>